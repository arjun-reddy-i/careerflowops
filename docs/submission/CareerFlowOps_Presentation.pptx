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One sentence: a job-ranking application whose model is produced, shipped and monitored through a complete MLOps pipeline, deployed on AWS.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problems. The product problem is finding relevant jobs and understanding why. The engineering problem is that a model is only useful if it can be reproduced, released safely and watched. The project addresses both.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Ingest postings from public employer job boards, rank them against the candidate's skills, explain each ranking and give the official apply link. Every job keeps its source name, source job ID, source URL and apply URL, so provenance is never lost.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reaches Caddy over HTTPS. Caddy forwards pages to the web container and API calls to the FastAPI container. The API reads PostgreSQL and the verified model bundle. MLflow stores experiments. Prometheus scrapes the API and Grafana draws it. Only ports 80 and 443 are public.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supplied pipeline diagram. Data is versioned with DVC, preprocessed in a DVC stage, experiments are tracked, the best model is selected on metrics, registered, pushed to a remote and fetched by the container at the server. The table on the right names the tool used for each stage in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and evaluation set is deliberately small: 29 frozen real postings and six fictional candidate queries. Three rankers are compared. The final match score combines five components with fixed weights from params.yaml. Results always carry an explanation, the model version and a fallback reason, which is empty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DVC stages turn raw data into a deployable bundle. Each stage lists its inputs and outputs, so DVC reruns only what changed. dvc.lock stores a hash for every input and output, and Git commits it, so each commit points to one exact version of data and model. The production remote is an S3 bucket.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MLflow holds one experiment with 12 finished runs and a registry with four versions of the ranker; the production alias points to version 4. These are the saved metrics of the three current rankers. All three tie on the validation metrics, so the rule falls to the algorithm name and TF-IDF is selected. With six queries these numbers show the pipeline works; they do not prove ranking quality.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copying a model file, the pipeline exports a bundle: model files plus a manifest with a checksum for each file. The bundle ID is the SHA-256 hash of the manifest, so any change gives a new ID. The server reports the ID at /ready, so you can prove which model is live. If the bundle is missing or damaged, the API returns 503 instead of falling back to another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push to main starts the workflow. Checks run first: backend, frontend and monitoring. Then the images are built and tagged with the commit SHA, pushed to ECR with immutable tags, and the server is updated through Systems Manager. GitHub logs in to AWS with a short-lived OIDC token, so no AWS key is stored. A failed step stops everything after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supplied EC2 deployment flow. The pipeline builds the image, the registry stores it, and the EC2 instance pulls the image and the model, then runs the API service kept alive by a restart policy. The table lists the AWS services used and why each one is there.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 script stops at the first failed check. The last step compares the bundle ID the running API reports with the manifest that was downloaded, which proves the right model is live. The right side lists the checks run against the live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exports request, duration, inference and ingestion metrics. Prometheus scrapes them and Grafana draws a provisioned dashboard. Four alert rules are tested in CI. Containers have a restart policy. We tested it by killing the server process inside the API container: Docker restarted it without help and the readiness endpoint answered again in about four seconds. docker kill does not work as a test because Docker treats it as a manual stop.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numbers from the live deployment. All values come from commands run against the system. The benchmark for the ranking metrics is small, so they show the pipeline works rather than ranking quality.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problems came up during deployment and none was solved by weakening a safety check. These are good examples of why a pipeline needs to be verified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about limits. One shared token guards the site. Alerts have no receiver. There is no drift detection. The system runs on one host. The ranking benchmark is small. The future work list addresses each of these.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model is reproducible, tracked, packaged with a checksum, shipped by an automated pipeline without stored keys, verified on the server and monitored. The deployment was verified end to end and the limits are documented.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references used for the background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Likely ones: DVC versus MLflow, how deployment works without stored keys, why TF-IDF was selected, what the limits 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331720"/>
            <a:ext cx="1463040" cy="73152"/>
          </a:xfrm>
          <a:prstGeom prst="rect">
            <a:avLst/>
          </a:prstGeom>
          <a:solidFill>
            <a:srgbClr val="E0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789920" cy="1463040"/>
          </a:xfrm>
          <a:prstGeom prst="rect">
            <a:avLst/>
          </a:prstGeom>
          <a:noFill/>
        </p:spPr>
        <p:txBody>
          <a:bodyPr wrap="square" anchor="ctr" lIns="73152" rIns="73152" tIns="36576" bIns="36576">
            <a:spAutoFit/>
          </a:bodyPr>
          <a:lstStyle/>
          <a:p>
            <a:pPr algn="l">
              <a:spcAft>
                <a:spcPts val="600"/>
              </a:spcAft>
            </a:pPr>
            <a:r>
              <a:rPr sz="3800" b="1">
                <a:solidFill>
                  <a:srgbClr val="FFFFFF"/>
                </a:solidFill>
                <a:latin typeface="Calibri"/>
              </a:rPr>
              <a:t>CareerFlowOps: An End-to-End MLOps Pipeline for Explainable Job Ranking on AWS</a:t>
            </a:r>
          </a:p>
        </p:txBody>
      </p:sp>
      <p:sp>
        <p:nvSpPr>
          <p:cNvPr id="5" name="TextBox 4"/>
          <p:cNvSpPr txBox="1"/>
          <p:nvPr/>
        </p:nvSpPr>
        <p:spPr>
          <a:xfrm>
            <a:off x="731520" y="2606040"/>
            <a:ext cx="10515600" cy="548640"/>
          </a:xfrm>
          <a:prstGeom prst="rect">
            <a:avLst/>
          </a:prstGeom>
          <a:noFill/>
        </p:spPr>
        <p:txBody>
          <a:bodyPr wrap="square" anchor="t" lIns="73152" rIns="73152" tIns="36576" bIns="36576">
            <a:spAutoFit/>
          </a:bodyPr>
          <a:lstStyle/>
          <a:p>
            <a:pPr algn="l">
              <a:spcAft>
                <a:spcPts val="600"/>
              </a:spcAft>
            </a:pPr>
            <a:r>
              <a:rPr sz="2200" b="0">
                <a:solidFill>
                  <a:srgbClr val="DCE6F2"/>
                </a:solidFill>
                <a:latin typeface="Calibri"/>
              </a:rPr>
              <a:t>Internship project presentation</a:t>
            </a:r>
          </a:p>
        </p:txBody>
      </p:sp>
      <p:sp>
        <p:nvSpPr>
          <p:cNvPr id="6" name="TextBox 5"/>
          <p:cNvSpPr txBox="1"/>
          <p:nvPr/>
        </p:nvSpPr>
        <p:spPr>
          <a:xfrm>
            <a:off x="731520" y="3840480"/>
            <a:ext cx="10515600" cy="457200"/>
          </a:xfrm>
          <a:prstGeom prst="rect">
            <a:avLst/>
          </a:prstGeom>
          <a:noFill/>
        </p:spPr>
        <p:txBody>
          <a:bodyPr wrap="square" anchor="t" lIns="73152" rIns="73152" tIns="36576" bIns="36576">
            <a:spAutoFit/>
          </a:bodyPr>
          <a:lstStyle/>
          <a:p>
            <a:pPr algn="l">
              <a:spcAft>
                <a:spcPts val="600"/>
              </a:spcAft>
            </a:pPr>
            <a:r>
              <a:rPr sz="2400" b="1">
                <a:solidFill>
                  <a:srgbClr val="FFFFFF"/>
                </a:solidFill>
                <a:latin typeface="Calibri"/>
              </a:rPr>
              <a:t>Utkarsh Lakhani (23070126064)</a:t>
            </a:r>
          </a:p>
        </p:txBody>
      </p:sp>
      <p:sp>
        <p:nvSpPr>
          <p:cNvPr id="7" name="TextBox 6"/>
          <p:cNvSpPr txBox="1"/>
          <p:nvPr/>
        </p:nvSpPr>
        <p:spPr>
          <a:xfrm>
            <a:off x="731520" y="4389120"/>
            <a:ext cx="10515600" cy="457200"/>
          </a:xfrm>
          <a:prstGeom prst="rect">
            <a:avLst/>
          </a:prstGeom>
          <a:noFill/>
        </p:spPr>
        <p:txBody>
          <a:bodyPr wrap="square" anchor="t" lIns="73152" rIns="73152" tIns="36576" bIns="36576">
            <a:spAutoFit/>
          </a:bodyPr>
          <a:lstStyle/>
          <a:p>
            <a:pPr algn="l">
              <a:spcAft>
                <a:spcPts val="600"/>
              </a:spcAft>
            </a:pPr>
            <a:r>
              <a:rPr sz="2000" b="0">
                <a:solidFill>
                  <a:srgbClr val="DCE6F2"/>
                </a:solidFill>
                <a:latin typeface="Calibri"/>
              </a:rPr>
              <a:t>Guide: Prof. Shruti Sunnad</a:t>
            </a:r>
          </a:p>
        </p:txBody>
      </p:sp>
      <p:sp>
        <p:nvSpPr>
          <p:cNvPr id="8" name="TextBox 7"/>
          <p:cNvSpPr txBox="1"/>
          <p:nvPr/>
        </p:nvSpPr>
        <p:spPr>
          <a:xfrm>
            <a:off x="731520" y="5029200"/>
            <a:ext cx="10515600" cy="822960"/>
          </a:xfrm>
          <a:prstGeom prst="rect">
            <a:avLst/>
          </a:prstGeom>
          <a:noFill/>
        </p:spPr>
        <p:txBody>
          <a:bodyPr wrap="square" anchor="t" lIns="73152" rIns="73152" tIns="36576" bIns="36576">
            <a:spAutoFit/>
          </a:bodyPr>
          <a:lstStyle/>
          <a:p>
            <a:pPr algn="l">
              <a:spcAft>
                <a:spcPts val="200"/>
              </a:spcAft>
            </a:pPr>
            <a:r>
              <a:rPr sz="1800" b="0">
                <a:solidFill>
                  <a:srgbClr val="DCE6F2"/>
                </a:solidFill>
                <a:latin typeface="Calibri"/>
              </a:rPr>
              <a:t>Department of Artificial Intelligence &amp; Machine Learning</a:t>
            </a:r>
          </a:p>
          <a:p>
            <a:pPr algn="l">
              <a:spcAft>
                <a:spcPts val="200"/>
              </a:spcAft>
            </a:pPr>
            <a:r>
              <a:rPr sz="1800" b="0">
                <a:solidFill>
                  <a:srgbClr val="DCE6F2"/>
                </a:solidFill>
                <a:latin typeface="Calibri"/>
              </a:rPr>
              <a:t>Symbiosis Institute of Technology (SIT)</a:t>
            </a:r>
          </a:p>
        </p:txBody>
      </p:sp>
      <p:sp>
        <p:nvSpPr>
          <p:cNvPr id="9" name="TextBox 8"/>
          <p:cNvSpPr txBox="1"/>
          <p:nvPr/>
        </p:nvSpPr>
        <p:spPr>
          <a:xfrm>
            <a:off x="731520" y="6217920"/>
            <a:ext cx="10515600" cy="365760"/>
          </a:xfrm>
          <a:prstGeom prst="rect">
            <a:avLst/>
          </a:prstGeom>
          <a:noFill/>
        </p:spPr>
        <p:txBody>
          <a:bodyPr wrap="square" anchor="t" lIns="73152" rIns="73152" tIns="36576" bIns="36576">
            <a:spAutoFit/>
          </a:bodyPr>
          <a:lstStyle/>
          <a:p>
            <a:pPr algn="l">
              <a:spcAft>
                <a:spcPts val="600"/>
              </a:spcAft>
            </a:pPr>
            <a:r>
              <a:rPr sz="1400" b="0">
                <a:solidFill>
                  <a:srgbClr val="DCE6F2"/>
                </a:solidFill>
                <a:latin typeface="Calibri"/>
              </a:rPr>
              <a:t>Live system: https://15-252-197-53.sslip.io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Problem and motivation</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2</a:t>
            </a:r>
          </a:p>
        </p:txBody>
      </p:sp>
      <p:sp>
        <p:nvSpPr>
          <p:cNvPr id="7" name="TextBox 6"/>
          <p:cNvSpPr txBox="1"/>
          <p:nvPr/>
        </p:nvSpPr>
        <p:spPr>
          <a:xfrm>
            <a:off x="548640" y="1280160"/>
            <a:ext cx="6309360" cy="4754880"/>
          </a:xfrm>
          <a:prstGeom prst="rect">
            <a:avLst/>
          </a:prstGeom>
          <a:noFill/>
        </p:spPr>
        <p:txBody>
          <a:bodyPr wrap="square" anchor="t" lIns="73152" rIns="73152" tIns="36576" bIns="36576">
            <a:spAutoFit/>
          </a:bodyPr>
          <a:lstStyle/>
          <a:p>
            <a:pPr algn="l" marL="274320" indent="-274320">
              <a:spcAft>
                <a:spcPts val="1200"/>
              </a:spcAft>
              <a:buChar char="•"/>
            </a:pPr>
            <a:r>
              <a:rPr sz="2000" b="0">
                <a:solidFill>
                  <a:srgbClr val="404040"/>
                </a:solidFill>
                <a:latin typeface="Calibri"/>
              </a:rPr>
              <a:t>Students check many company career pages, and postings are not ranked by fit to their skills.</a:t>
            </a:r>
          </a:p>
          <a:p>
            <a:pPr algn="l" marL="274320" indent="-274320">
              <a:spcAft>
                <a:spcPts val="1200"/>
              </a:spcAft>
              <a:buChar char="•"/>
            </a:pPr>
            <a:r>
              <a:rPr sz="2000" b="0">
                <a:solidFill>
                  <a:srgbClr val="404040"/>
                </a:solidFill>
                <a:latin typeface="Calibri"/>
              </a:rPr>
              <a:t>A suggestion without a reason cannot be trusted or checked.</a:t>
            </a:r>
          </a:p>
          <a:p>
            <a:pPr algn="l" marL="274320" indent="-274320">
              <a:spcAft>
                <a:spcPts val="1200"/>
              </a:spcAft>
              <a:buChar char="•"/>
            </a:pPr>
            <a:r>
              <a:rPr sz="2000" b="0">
                <a:solidFill>
                  <a:srgbClr val="404040"/>
                </a:solidFill>
                <a:latin typeface="Calibri"/>
              </a:rPr>
              <a:t>A model also needs a process: the same data gives the same model, experiments can be compared, a release can be traced and the running service is watched.</a:t>
            </a:r>
          </a:p>
          <a:p>
            <a:pPr algn="l" marL="274320" indent="-274320">
              <a:spcAft>
                <a:spcPts val="1200"/>
              </a:spcAft>
              <a:buChar char="•"/>
            </a:pPr>
            <a:r>
              <a:rPr sz="2000" b="0">
                <a:solidFill>
                  <a:srgbClr val="404040"/>
                </a:solidFill>
                <a:latin typeface="Calibri"/>
              </a:rPr>
              <a:t>Goal: an explainable job ranker whose model moves through a complete MLOps pipeline into production.</a:t>
            </a:r>
          </a:p>
        </p:txBody>
      </p:sp>
      <p:sp>
        <p:nvSpPr>
          <p:cNvPr id="8" name="Rounded Rectangle 7"/>
          <p:cNvSpPr/>
          <p:nvPr/>
        </p:nvSpPr>
        <p:spPr>
          <a:xfrm>
            <a:off x="7315200" y="1463040"/>
            <a:ext cx="4297680" cy="2011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a:solidFill>
                  <a:srgbClr val="1F3864"/>
                </a:solidFill>
                <a:latin typeface="Calibri"/>
              </a:rPr>
              <a:t>Product problem</a:t>
            </a:r>
          </a:p>
          <a:p>
            <a:pPr algn="ctr"/>
            <a:r>
              <a:rPr sz="1800">
                <a:solidFill>
                  <a:srgbClr val="1F3864"/>
                </a:solidFill>
                <a:latin typeface="Calibri"/>
              </a:rPr>
              <a:t>Rank real postings for a candidate and explain every result</a:t>
            </a:r>
          </a:p>
        </p:txBody>
      </p:sp>
      <p:sp>
        <p:nvSpPr>
          <p:cNvPr id="9" name="Rounded Rectangle 8"/>
          <p:cNvSpPr/>
          <p:nvPr/>
        </p:nvSpPr>
        <p:spPr>
          <a:xfrm>
            <a:off x="7315200" y="3840480"/>
            <a:ext cx="4297680" cy="20116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a:solidFill>
                  <a:srgbClr val="9C1C1C"/>
                </a:solidFill>
                <a:latin typeface="Calibri"/>
              </a:rPr>
              <a:t>Engineering problem</a:t>
            </a:r>
          </a:p>
          <a:p>
            <a:pPr algn="ctr"/>
            <a:r>
              <a:rPr sz="1800">
                <a:solidFill>
                  <a:srgbClr val="9C1C1C"/>
                </a:solidFill>
                <a:latin typeface="Calibri"/>
              </a:rPr>
              <a:t>Make the model reproducible, traceable, deployable and observable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What CareerFlowOps does</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3</a:t>
            </a:r>
          </a:p>
        </p:txBody>
      </p:sp>
      <p:sp>
        <p:nvSpPr>
          <p:cNvPr id="7" name="Rounded Rectangle 6"/>
          <p:cNvSpPr/>
          <p:nvPr/>
        </p:nvSpPr>
        <p:spPr>
          <a:xfrm>
            <a:off x="502920" y="1554480"/>
            <a:ext cx="2331720" cy="30175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a:solidFill>
                  <a:srgbClr val="1F3864"/>
                </a:solidFill>
                <a:latin typeface="Calibri"/>
              </a:rPr>
              <a:t>1  Ingest</a:t>
            </a:r>
          </a:p>
          <a:p>
            <a:pPr algn="ctr"/>
            <a:r>
              <a:rPr sz="1800">
                <a:solidFill>
                  <a:srgbClr val="1F3864"/>
                </a:solidFill>
                <a:latin typeface="Calibri"/>
              </a:rPr>
              <a:t>Greenhouse, Lever and Ashby public job APIs. 1,052 postings loaded on the server</a:t>
            </a:r>
          </a:p>
        </p:txBody>
      </p:sp>
      <p:sp>
        <p:nvSpPr>
          <p:cNvPr id="8" name="Right Arrow 7"/>
          <p:cNvSpPr/>
          <p:nvPr/>
        </p:nvSpPr>
        <p:spPr>
          <a:xfrm>
            <a:off x="2880360" y="2926080"/>
            <a:ext cx="457200" cy="32004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4720" y="1554480"/>
            <a:ext cx="2331720" cy="301752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a:solidFill>
                  <a:srgbClr val="9C1C1C"/>
                </a:solidFill>
                <a:latin typeface="Calibri"/>
              </a:rPr>
              <a:t>2  Rank</a:t>
            </a:r>
          </a:p>
          <a:p>
            <a:pPr algn="ctr"/>
            <a:r>
              <a:rPr sz="1800">
                <a:solidFill>
                  <a:srgbClr val="9C1C1C"/>
                </a:solidFill>
                <a:latin typeface="Calibri"/>
              </a:rPr>
              <a:t>TF-IDF, sentence-transformer or a hybrid of both</a:t>
            </a:r>
          </a:p>
        </p:txBody>
      </p:sp>
      <p:sp>
        <p:nvSpPr>
          <p:cNvPr id="10" name="Right Arrow 9"/>
          <p:cNvSpPr/>
          <p:nvPr/>
        </p:nvSpPr>
        <p:spPr>
          <a:xfrm>
            <a:off x="5852160" y="2926080"/>
            <a:ext cx="457200" cy="32004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46520" y="1554480"/>
            <a:ext cx="2331720" cy="30175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a:solidFill>
                  <a:srgbClr val="1F3864"/>
                </a:solidFill>
                <a:latin typeface="Calibri"/>
              </a:rPr>
              <a:t>3  Explain</a:t>
            </a:r>
          </a:p>
          <a:p>
            <a:pPr algn="ctr"/>
            <a:r>
              <a:rPr sz="1800">
                <a:solidFill>
                  <a:srgbClr val="1F3864"/>
                </a:solidFill>
                <a:latin typeface="Calibri"/>
              </a:rPr>
              <a:t>Five component scores, matched and missing skills, a text reason</a:t>
            </a:r>
          </a:p>
        </p:txBody>
      </p:sp>
      <p:sp>
        <p:nvSpPr>
          <p:cNvPr id="12" name="Right Arrow 11"/>
          <p:cNvSpPr/>
          <p:nvPr/>
        </p:nvSpPr>
        <p:spPr>
          <a:xfrm>
            <a:off x="8823960" y="2926080"/>
            <a:ext cx="457200" cy="32004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18320" y="1554480"/>
            <a:ext cx="2331720" cy="301752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a:solidFill>
                  <a:srgbClr val="9C1C1C"/>
                </a:solidFill>
                <a:latin typeface="Calibri"/>
              </a:rPr>
              <a:t>4  Apply</a:t>
            </a:r>
          </a:p>
          <a:p>
            <a:pPr algn="ctr"/>
            <a:r>
              <a:rPr sz="1800">
                <a:solidFill>
                  <a:srgbClr val="9C1C1C"/>
                </a:solidFill>
                <a:latin typeface="Calibri"/>
              </a:rPr>
              <a:t>Official apply link. The system never submits an application</a:t>
            </a:r>
          </a:p>
        </p:txBody>
      </p:sp>
      <p:sp>
        <p:nvSpPr>
          <p:cNvPr id="14" name="TextBox 13"/>
          <p:cNvSpPr txBox="1"/>
          <p:nvPr/>
        </p:nvSpPr>
        <p:spPr>
          <a:xfrm>
            <a:off x="548640" y="5029200"/>
            <a:ext cx="11064240" cy="1097280"/>
          </a:xfrm>
          <a:prstGeom prst="rect">
            <a:avLst/>
          </a:prstGeom>
          <a:noFill/>
        </p:spPr>
        <p:txBody>
          <a:bodyPr wrap="square" anchor="t" lIns="73152" rIns="73152" tIns="36576" bIns="36576">
            <a:spAutoFit/>
          </a:bodyPr>
          <a:lstStyle/>
          <a:p>
            <a:pPr algn="l" marL="274320" indent="-274320">
              <a:spcAft>
                <a:spcPts val="600"/>
              </a:spcAft>
              <a:buChar char="•"/>
            </a:pPr>
            <a:r>
              <a:rPr sz="1800" b="0">
                <a:solidFill>
                  <a:srgbClr val="404040"/>
                </a:solidFill>
                <a:latin typeface="Calibri"/>
              </a:rPr>
              <a:t>Every job keeps its source name, source job ID, source URL and apply URL.</a:t>
            </a:r>
          </a:p>
          <a:p>
            <a:pPr algn="l" marL="274320" indent="-274320">
              <a:spcAft>
                <a:spcPts val="600"/>
              </a:spcAft>
              <a:buChar char="•"/>
            </a:pPr>
            <a:r>
              <a:rPr sz="1800" b="0">
                <a:solidFill>
                  <a:srgbClr val="404040"/>
                </a:solidFill>
                <a:latin typeface="Calibri"/>
              </a:rPr>
              <a:t>Raw payloads are stored apart from normalized jobs, and duplicate detection never deletes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System architecture on one EC2 host</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4</a:t>
            </a:r>
          </a:p>
        </p:txBody>
      </p:sp>
      <p:sp>
        <p:nvSpPr>
          <p:cNvPr id="7" name="Rounded Rectangle 6"/>
          <p:cNvSpPr/>
          <p:nvPr/>
        </p:nvSpPr>
        <p:spPr>
          <a:xfrm>
            <a:off x="457200" y="2926080"/>
            <a:ext cx="1554480" cy="914400"/>
          </a:xfrm>
          <a:prstGeom prst="roundRect">
            <a:avLst/>
          </a:prstGeom>
          <a:solidFill>
            <a:srgbClr val="E2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a:solidFill>
                  <a:srgbClr val="1F3864"/>
                </a:solidFill>
                <a:latin typeface="Calibri"/>
              </a:rPr>
              <a:t>Browser</a:t>
            </a:r>
          </a:p>
        </p:txBody>
      </p:sp>
      <p:sp>
        <p:nvSpPr>
          <p:cNvPr id="8" name="Right Arrow 7"/>
          <p:cNvSpPr/>
          <p:nvPr/>
        </p:nvSpPr>
        <p:spPr>
          <a:xfrm>
            <a:off x="2057400" y="3200400"/>
            <a:ext cx="411480" cy="32004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514600" y="2926080"/>
            <a:ext cx="1828800" cy="91440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a:solidFill>
                  <a:srgbClr val="9C1C1C"/>
                </a:solidFill>
                <a:latin typeface="Calibri"/>
              </a:rPr>
              <a:t>Caddy</a:t>
            </a:r>
          </a:p>
          <a:p>
            <a:pPr algn="ctr"/>
            <a:r>
              <a:rPr sz="1400">
                <a:solidFill>
                  <a:srgbClr val="9C1C1C"/>
                </a:solidFill>
                <a:latin typeface="Calibri"/>
              </a:rPr>
              <a:t>HTTPS, routing</a:t>
            </a:r>
          </a:p>
        </p:txBody>
      </p:sp>
      <p:sp>
        <p:nvSpPr>
          <p:cNvPr id="10" name="Right Arrow 9"/>
          <p:cNvSpPr/>
          <p:nvPr/>
        </p:nvSpPr>
        <p:spPr>
          <a:xfrm>
            <a:off x="4389120" y="2240280"/>
            <a:ext cx="411480" cy="32004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4389120" y="4069080"/>
            <a:ext cx="411480" cy="32004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1828800"/>
            <a:ext cx="237744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a:solidFill>
                  <a:srgbClr val="1F3864"/>
                </a:solidFill>
                <a:latin typeface="Calibri"/>
              </a:rPr>
              <a:t>web</a:t>
            </a:r>
          </a:p>
          <a:p>
            <a:pPr algn="ctr"/>
            <a:r>
              <a:rPr sz="1400">
                <a:solidFill>
                  <a:srgbClr val="1F3864"/>
                </a:solidFill>
                <a:latin typeface="Calibri"/>
              </a:rPr>
              <a:t>nginx + React</a:t>
            </a:r>
          </a:p>
        </p:txBody>
      </p:sp>
      <p:sp>
        <p:nvSpPr>
          <p:cNvPr id="13" name="Rounded Rectangle 12"/>
          <p:cNvSpPr/>
          <p:nvPr/>
        </p:nvSpPr>
        <p:spPr>
          <a:xfrm>
            <a:off x="4846320" y="3749039"/>
            <a:ext cx="237744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a:solidFill>
                  <a:srgbClr val="1F3864"/>
                </a:solidFill>
                <a:latin typeface="Calibri"/>
              </a:rPr>
              <a:t>API</a:t>
            </a:r>
          </a:p>
          <a:p>
            <a:pPr algn="ctr"/>
            <a:r>
              <a:rPr sz="1400">
                <a:solidFill>
                  <a:srgbClr val="1F3864"/>
                </a:solidFill>
                <a:latin typeface="Calibri"/>
              </a:rPr>
              <a:t>FastAPI</a:t>
            </a:r>
          </a:p>
        </p:txBody>
      </p:sp>
      <p:sp>
        <p:nvSpPr>
          <p:cNvPr id="14" name="Right Arrow 13"/>
          <p:cNvSpPr/>
          <p:nvPr/>
        </p:nvSpPr>
        <p:spPr>
          <a:xfrm>
            <a:off x="7269480" y="4069080"/>
            <a:ext cx="411480" cy="32004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26679" y="3291840"/>
            <a:ext cx="2011680" cy="914400"/>
          </a:xfrm>
          <a:prstGeom prst="roundRect">
            <a:avLst/>
          </a:prstGeom>
          <a:solidFill>
            <a:srgbClr val="E2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PostgreSQL</a:t>
            </a:r>
          </a:p>
        </p:txBody>
      </p:sp>
      <p:sp>
        <p:nvSpPr>
          <p:cNvPr id="16" name="Rounded Rectangle 15"/>
          <p:cNvSpPr/>
          <p:nvPr/>
        </p:nvSpPr>
        <p:spPr>
          <a:xfrm>
            <a:off x="7726679" y="4434840"/>
            <a:ext cx="2011680" cy="914400"/>
          </a:xfrm>
          <a:prstGeom prst="roundRect">
            <a:avLst/>
          </a:prstGeom>
          <a:solidFill>
            <a:srgbClr val="E2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Model bundle</a:t>
            </a:r>
          </a:p>
          <a:p>
            <a:pPr algn="ctr"/>
            <a:r>
              <a:rPr sz="1200">
                <a:solidFill>
                  <a:srgbClr val="1F3864"/>
                </a:solidFill>
                <a:latin typeface="Calibri"/>
              </a:rPr>
              <a:t>read-only, verified</a:t>
            </a:r>
          </a:p>
        </p:txBody>
      </p:sp>
      <p:sp>
        <p:nvSpPr>
          <p:cNvPr id="17" name="Rounded Rectangle 16"/>
          <p:cNvSpPr/>
          <p:nvPr/>
        </p:nvSpPr>
        <p:spPr>
          <a:xfrm>
            <a:off x="10012680" y="1737360"/>
            <a:ext cx="1737360"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MLflow</a:t>
            </a:r>
          </a:p>
          <a:p>
            <a:pPr algn="ctr"/>
            <a:r>
              <a:rPr sz="1200">
                <a:solidFill>
                  <a:srgbClr val="1F3864"/>
                </a:solidFill>
                <a:latin typeface="Calibri"/>
              </a:rPr>
              <a:t>experiments</a:t>
            </a:r>
          </a:p>
        </p:txBody>
      </p:sp>
      <p:sp>
        <p:nvSpPr>
          <p:cNvPr id="18" name="Rounded Rectangle 17"/>
          <p:cNvSpPr/>
          <p:nvPr/>
        </p:nvSpPr>
        <p:spPr>
          <a:xfrm>
            <a:off x="10012680" y="2926080"/>
            <a:ext cx="1737360"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Prometheus</a:t>
            </a:r>
          </a:p>
          <a:p>
            <a:pPr algn="ctr"/>
            <a:r>
              <a:rPr sz="1200">
                <a:solidFill>
                  <a:srgbClr val="1F3864"/>
                </a:solidFill>
                <a:latin typeface="Calibri"/>
              </a:rPr>
              <a:t>scrapes API</a:t>
            </a:r>
          </a:p>
        </p:txBody>
      </p:sp>
      <p:sp>
        <p:nvSpPr>
          <p:cNvPr id="19" name="Rounded Rectangle 18"/>
          <p:cNvSpPr/>
          <p:nvPr/>
        </p:nvSpPr>
        <p:spPr>
          <a:xfrm>
            <a:off x="10012680" y="4114800"/>
            <a:ext cx="1737360"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Grafana</a:t>
            </a:r>
          </a:p>
          <a:p>
            <a:pPr algn="ctr"/>
            <a:r>
              <a:rPr sz="1200">
                <a:solidFill>
                  <a:srgbClr val="1F3864"/>
                </a:solidFill>
                <a:latin typeface="Calibri"/>
              </a:rPr>
              <a:t>dashboards</a:t>
            </a:r>
          </a:p>
        </p:txBody>
      </p:sp>
      <p:sp>
        <p:nvSpPr>
          <p:cNvPr id="20" name="TextBox 19"/>
          <p:cNvSpPr txBox="1"/>
          <p:nvPr/>
        </p:nvSpPr>
        <p:spPr>
          <a:xfrm>
            <a:off x="548640" y="5623560"/>
            <a:ext cx="11064240" cy="731520"/>
          </a:xfrm>
          <a:prstGeom prst="rect">
            <a:avLst/>
          </a:prstGeom>
          <a:noFill/>
        </p:spPr>
        <p:txBody>
          <a:bodyPr wrap="square" anchor="t" lIns="73152" rIns="73152" tIns="36576" bIns="36576">
            <a:spAutoFit/>
          </a:bodyPr>
          <a:lstStyle/>
          <a:p>
            <a:pPr algn="l">
              <a:spcAft>
                <a:spcPts val="600"/>
              </a:spcAft>
            </a:pPr>
            <a:r>
              <a:rPr sz="1600" b="0">
                <a:solidFill>
                  <a:srgbClr val="595959"/>
                </a:solidFill>
                <a:latin typeface="Calibri"/>
              </a:rPr>
              <a:t>All containers run from Docker Compose. Only ports 80 and 443 are public; PostgreSQL, MLflow, Prometheus and Grafana listen on the loopback interface.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The MLOps lifecycle: data to prediction</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5</a:t>
            </a:r>
          </a:p>
        </p:txBody>
      </p:sp>
      <p:pic>
        <p:nvPicPr>
          <p:cNvPr id="7" name="Picture 6" descr="fig_pipeline.png"/>
          <p:cNvPicPr>
            <a:picLocks noChangeAspect="1"/>
          </p:cNvPicPr>
          <p:nvPr/>
        </p:nvPicPr>
        <p:blipFill>
          <a:blip r:embed="rId3"/>
          <a:stretch>
            <a:fillRect/>
          </a:stretch>
        </p:blipFill>
        <p:spPr>
          <a:xfrm>
            <a:off x="640080" y="1143000"/>
            <a:ext cx="3721860" cy="5212080"/>
          </a:xfrm>
          <a:prstGeom prst="rect">
            <a:avLst/>
          </a:prstGeom>
        </p:spPr>
      </p:pic>
      <p:graphicFrame>
        <p:nvGraphicFramePr>
          <p:cNvPr id="8" name="Table 7"/>
          <p:cNvGraphicFramePr>
            <a:graphicFrameLocks noGrp="1"/>
          </p:cNvGraphicFramePr>
          <p:nvPr/>
        </p:nvGraphicFramePr>
        <p:xfrm>
          <a:off x="4754880" y="1371600"/>
          <a:ext cx="6949440" cy="4114800"/>
        </p:xfrm>
        <a:graphic>
          <a:graphicData uri="http://schemas.openxmlformats.org/drawingml/2006/table">
            <a:tbl>
              <a:tblPr firstRow="1" bandRow="1">
                <a:tableStyleId>{5C22544A-7EE6-4342-B048-85BDC9FD1C3A}</a:tableStyleId>
              </a:tblPr>
              <a:tblGrid>
                <a:gridCol w="2560320"/>
                <a:gridCol w="4389120"/>
              </a:tblGrid>
              <a:tr h="457200">
                <a:tc>
                  <a:txBody>
                    <a:bodyPr wrap="square"/>
                    <a:lstStyle/>
                    <a:p>
                      <a:r>
                        <a:rPr sz="1400" b="1">
                          <a:solidFill>
                            <a:srgbClr val="FFFFFF"/>
                          </a:solidFill>
                          <a:latin typeface="Calibri"/>
                        </a:rPr>
                        <a:t>Stage</a:t>
                      </a:r>
                    </a:p>
                  </a:txBody>
                  <a:tcPr marL="54864" marR="54864" marT="27432" marB="27432" anchor="ctr">
                    <a:solidFill>
                      <a:srgbClr val="1F3864"/>
                    </a:solidFill>
                  </a:tcPr>
                </a:tc>
                <a:tc>
                  <a:txBody>
                    <a:bodyPr wrap="square"/>
                    <a:lstStyle/>
                    <a:p>
                      <a:r>
                        <a:rPr sz="1400" b="1">
                          <a:solidFill>
                            <a:srgbClr val="FFFFFF"/>
                          </a:solidFill>
                          <a:latin typeface="Calibri"/>
                        </a:rPr>
                        <a:t>Tool in this project</a:t>
                      </a:r>
                    </a:p>
                  </a:txBody>
                  <a:tcPr marL="54864" marR="54864" marT="27432" marB="27432" anchor="ctr">
                    <a:solidFill>
                      <a:srgbClr val="1F3864"/>
                    </a:solidFill>
                  </a:tcPr>
                </a:tc>
              </a:tr>
              <a:tr h="457200">
                <a:tc>
                  <a:txBody>
                    <a:bodyPr wrap="square"/>
                    <a:lstStyle/>
                    <a:p>
                      <a:r>
                        <a:rPr sz="1400">
                          <a:solidFill>
                            <a:srgbClr val="404040"/>
                          </a:solidFill>
                          <a:latin typeface="Calibri"/>
                        </a:rPr>
                        <a:t>Raw data versioning</a:t>
                      </a:r>
                    </a:p>
                  </a:txBody>
                  <a:tcPr marL="54864" marR="54864" marT="27432" marB="27432" anchor="ctr">
                    <a:solidFill>
                      <a:srgbClr val="E8EEF7"/>
                    </a:solidFill>
                  </a:tcPr>
                </a:tc>
                <a:tc>
                  <a:txBody>
                    <a:bodyPr wrap="square"/>
                    <a:lstStyle/>
                    <a:p>
                      <a:r>
                        <a:rPr sz="1400">
                          <a:solidFill>
                            <a:srgbClr val="404040"/>
                          </a:solidFill>
                          <a:latin typeface="Calibri"/>
                        </a:rPr>
                        <a:t>DVC, S3 remote</a:t>
                      </a:r>
                    </a:p>
                  </a:txBody>
                  <a:tcPr marL="54864" marR="54864" marT="27432" marB="27432" anchor="ctr">
                    <a:solidFill>
                      <a:srgbClr val="E8EEF7"/>
                    </a:solidFill>
                  </a:tcPr>
                </a:tc>
              </a:tr>
              <a:tr h="457200">
                <a:tc>
                  <a:txBody>
                    <a:bodyPr wrap="square"/>
                    <a:lstStyle/>
                    <a:p>
                      <a:r>
                        <a:rPr sz="1400">
                          <a:solidFill>
                            <a:srgbClr val="404040"/>
                          </a:solidFill>
                          <a:latin typeface="Calibri"/>
                        </a:rPr>
                        <a:t>Preprocessing</a:t>
                      </a:r>
                    </a:p>
                  </a:txBody>
                  <a:tcPr marL="54864" marR="54864" marT="27432" marB="27432" anchor="ctr">
                    <a:solidFill>
                      <a:srgbClr val="FFFFFF"/>
                    </a:solidFill>
                  </a:tcPr>
                </a:tc>
                <a:tc>
                  <a:txBody>
                    <a:bodyPr wrap="square"/>
                    <a:lstStyle/>
                    <a:p>
                      <a:r>
                        <a:rPr sz="1400">
                          <a:solidFill>
                            <a:srgbClr val="404040"/>
                          </a:solidFill>
                          <a:latin typeface="Calibri"/>
                        </a:rPr>
                        <a:t>DVC pipeline stage</a:t>
                      </a:r>
                    </a:p>
                  </a:txBody>
                  <a:tcPr marL="54864" marR="54864" marT="27432" marB="27432" anchor="ctr">
                    <a:solidFill>
                      <a:srgbClr val="FFFFFF"/>
                    </a:solidFill>
                  </a:tcPr>
                </a:tc>
              </a:tr>
              <a:tr h="457200">
                <a:tc>
                  <a:txBody>
                    <a:bodyPr wrap="square"/>
                    <a:lstStyle/>
                    <a:p>
                      <a:r>
                        <a:rPr sz="1400">
                          <a:solidFill>
                            <a:srgbClr val="404040"/>
                          </a:solidFill>
                          <a:latin typeface="Calibri"/>
                        </a:rPr>
                        <a:t>Experiments</a:t>
                      </a:r>
                    </a:p>
                  </a:txBody>
                  <a:tcPr marL="54864" marR="54864" marT="27432" marB="27432" anchor="ctr">
                    <a:solidFill>
                      <a:srgbClr val="E8EEF7"/>
                    </a:solidFill>
                  </a:tcPr>
                </a:tc>
                <a:tc>
                  <a:txBody>
                    <a:bodyPr wrap="square"/>
                    <a:lstStyle/>
                    <a:p>
                      <a:r>
                        <a:rPr sz="1400">
                          <a:solidFill>
                            <a:srgbClr val="404040"/>
                          </a:solidFill>
                          <a:latin typeface="Calibri"/>
                        </a:rPr>
                        <a:t>MLflow, 12 tracked runs</a:t>
                      </a:r>
                    </a:p>
                  </a:txBody>
                  <a:tcPr marL="54864" marR="54864" marT="27432" marB="27432" anchor="ctr">
                    <a:solidFill>
                      <a:srgbClr val="E8EEF7"/>
                    </a:solidFill>
                  </a:tcPr>
                </a:tc>
              </a:tr>
              <a:tr h="457200">
                <a:tc>
                  <a:txBody>
                    <a:bodyPr wrap="square"/>
                    <a:lstStyle/>
                    <a:p>
                      <a:r>
                        <a:rPr sz="1400">
                          <a:solidFill>
                            <a:srgbClr val="404040"/>
                          </a:solidFill>
                          <a:latin typeface="Calibri"/>
                        </a:rPr>
                        <a:t>Best model selected</a:t>
                      </a:r>
                    </a:p>
                  </a:txBody>
                  <a:tcPr marL="54864" marR="54864" marT="27432" marB="27432" anchor="ctr">
                    <a:solidFill>
                      <a:srgbClr val="FFFFFF"/>
                    </a:solidFill>
                  </a:tcPr>
                </a:tc>
                <a:tc>
                  <a:txBody>
                    <a:bodyPr wrap="square"/>
                    <a:lstStyle/>
                    <a:p>
                      <a:r>
                        <a:rPr sz="1400">
                          <a:solidFill>
                            <a:srgbClr val="404040"/>
                          </a:solidFill>
                          <a:latin typeface="Calibri"/>
                        </a:rPr>
                        <a:t>Validation metrics, fixed rule</a:t>
                      </a:r>
                    </a:p>
                  </a:txBody>
                  <a:tcPr marL="54864" marR="54864" marT="27432" marB="27432" anchor="ctr">
                    <a:solidFill>
                      <a:srgbClr val="FFFFFF"/>
                    </a:solidFill>
                  </a:tcPr>
                </a:tc>
              </a:tr>
              <a:tr h="457200">
                <a:tc>
                  <a:txBody>
                    <a:bodyPr wrap="square"/>
                    <a:lstStyle/>
                    <a:p>
                      <a:r>
                        <a:rPr sz="1400">
                          <a:solidFill>
                            <a:srgbClr val="404040"/>
                          </a:solidFill>
                          <a:latin typeface="Calibri"/>
                        </a:rPr>
                        <a:t>Model registry</a:t>
                      </a:r>
                    </a:p>
                  </a:txBody>
                  <a:tcPr marL="54864" marR="54864" marT="27432" marB="27432" anchor="ctr">
                    <a:solidFill>
                      <a:srgbClr val="E8EEF7"/>
                    </a:solidFill>
                  </a:tcPr>
                </a:tc>
                <a:tc>
                  <a:txBody>
                    <a:bodyPr wrap="square"/>
                    <a:lstStyle/>
                    <a:p>
                      <a:r>
                        <a:rPr sz="1400">
                          <a:solidFill>
                            <a:srgbClr val="404040"/>
                          </a:solidFill>
                          <a:latin typeface="Calibri"/>
                        </a:rPr>
                        <a:t>MLflow alias plus DVC bundle in S3</a:t>
                      </a:r>
                    </a:p>
                  </a:txBody>
                  <a:tcPr marL="54864" marR="54864" marT="27432" marB="27432" anchor="ctr">
                    <a:solidFill>
                      <a:srgbClr val="E8EEF7"/>
                    </a:solidFill>
                  </a:tcPr>
                </a:tc>
              </a:tr>
              <a:tr h="457200">
                <a:tc>
                  <a:txBody>
                    <a:bodyPr wrap="square"/>
                    <a:lstStyle/>
                    <a:p>
                      <a:r>
                        <a:rPr sz="1400">
                          <a:solidFill>
                            <a:srgbClr val="404040"/>
                          </a:solidFill>
                          <a:latin typeface="Calibri"/>
                        </a:rPr>
                        <a:t>API and image</a:t>
                      </a:r>
                    </a:p>
                  </a:txBody>
                  <a:tcPr marL="54864" marR="54864" marT="27432" marB="27432" anchor="ctr">
                    <a:solidFill>
                      <a:srgbClr val="FFFFFF"/>
                    </a:solidFill>
                  </a:tcPr>
                </a:tc>
                <a:tc>
                  <a:txBody>
                    <a:bodyPr wrap="square"/>
                    <a:lstStyle/>
                    <a:p>
                      <a:r>
                        <a:rPr sz="1400">
                          <a:solidFill>
                            <a:srgbClr val="404040"/>
                          </a:solidFill>
                          <a:latin typeface="Calibri"/>
                        </a:rPr>
                        <a:t>FastAPI, Docker, GitHub Actions, ECR</a:t>
                      </a:r>
                    </a:p>
                  </a:txBody>
                  <a:tcPr marL="54864" marR="54864" marT="27432" marB="27432" anchor="ctr">
                    <a:solidFill>
                      <a:srgbClr val="FFFFFF"/>
                    </a:solidFill>
                  </a:tcPr>
                </a:tc>
              </a:tr>
              <a:tr h="457200">
                <a:tc>
                  <a:txBody>
                    <a:bodyPr wrap="square"/>
                    <a:lstStyle/>
                    <a:p>
                      <a:r>
                        <a:rPr sz="1400">
                          <a:solidFill>
                            <a:srgbClr val="404040"/>
                          </a:solidFill>
                          <a:latin typeface="Calibri"/>
                        </a:rPr>
                        <a:t>Host</a:t>
                      </a:r>
                    </a:p>
                  </a:txBody>
                  <a:tcPr marL="54864" marR="54864" marT="27432" marB="27432" anchor="ctr">
                    <a:solidFill>
                      <a:srgbClr val="E8EEF7"/>
                    </a:solidFill>
                  </a:tcPr>
                </a:tc>
                <a:tc>
                  <a:txBody>
                    <a:bodyPr wrap="square"/>
                    <a:lstStyle/>
                    <a:p>
                      <a:r>
                        <a:rPr sz="1400">
                          <a:solidFill>
                            <a:srgbClr val="404040"/>
                          </a:solidFill>
                          <a:latin typeface="Calibri"/>
                        </a:rPr>
                        <a:t>EC2, Docker Compose</a:t>
                      </a:r>
                    </a:p>
                  </a:txBody>
                  <a:tcPr marL="54864" marR="54864" marT="27432" marB="27432" anchor="ctr">
                    <a:solidFill>
                      <a:srgbClr val="E8EEF7"/>
                    </a:solidFill>
                  </a:tcPr>
                </a:tc>
              </a:tr>
              <a:tr h="457200">
                <a:tc>
                  <a:txBody>
                    <a:bodyPr wrap="square"/>
                    <a:lstStyle/>
                    <a:p>
                      <a:r>
                        <a:rPr sz="1400">
                          <a:solidFill>
                            <a:srgbClr val="404040"/>
                          </a:solidFill>
                          <a:latin typeface="Calibri"/>
                        </a:rPr>
                        <a:t>Client request</a:t>
                      </a:r>
                    </a:p>
                  </a:txBody>
                  <a:tcPr marL="54864" marR="54864" marT="27432" marB="27432" anchor="ctr">
                    <a:solidFill>
                      <a:srgbClr val="FFFFFF"/>
                    </a:solidFill>
                  </a:tcPr>
                </a:tc>
                <a:tc>
                  <a:txBody>
                    <a:bodyPr wrap="square"/>
                    <a:lstStyle/>
                    <a:p>
                      <a:r>
                        <a:rPr sz="1400">
                          <a:solidFill>
                            <a:srgbClr val="404040"/>
                          </a:solidFill>
                          <a:latin typeface="Calibri"/>
                        </a:rPr>
                        <a:t>HTTPS, explained prediction</a:t>
                      </a:r>
                    </a:p>
                  </a:txBody>
                  <a:tcPr marL="54864" marR="54864"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Data and ranking model</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6</a:t>
            </a:r>
          </a:p>
        </p:txBody>
      </p:sp>
      <p:sp>
        <p:nvSpPr>
          <p:cNvPr id="7" name="TextBox 6"/>
          <p:cNvSpPr txBox="1"/>
          <p:nvPr/>
        </p:nvSpPr>
        <p:spPr>
          <a:xfrm>
            <a:off x="548640" y="1280160"/>
            <a:ext cx="6309360" cy="4937760"/>
          </a:xfrm>
          <a:prstGeom prst="rect">
            <a:avLst/>
          </a:prstGeom>
          <a:noFill/>
        </p:spPr>
        <p:txBody>
          <a:bodyPr wrap="square" anchor="t" lIns="73152" rIns="73152" tIns="36576" bIns="36576">
            <a:spAutoFit/>
          </a:bodyPr>
          <a:lstStyle/>
          <a:p>
            <a:pPr algn="l" marL="274320" indent="-274320">
              <a:spcAft>
                <a:spcPts val="1000"/>
              </a:spcAft>
              <a:buChar char="•"/>
            </a:pPr>
            <a:r>
              <a:rPr sz="1800" b="0">
                <a:solidFill>
                  <a:srgbClr val="404040"/>
                </a:solidFill>
                <a:latin typeface="Calibri"/>
              </a:rPr>
              <a:t>Evaluation set: 29 frozen real postings, six fictional candidate queries, relevance labels written during development.</a:t>
            </a:r>
          </a:p>
          <a:p>
            <a:pPr algn="l" marL="274320" indent="-274320">
              <a:spcAft>
                <a:spcPts val="1000"/>
              </a:spcAft>
              <a:buChar char="•"/>
            </a:pPr>
            <a:r>
              <a:rPr sz="1800" b="0">
                <a:solidFill>
                  <a:srgbClr val="404040"/>
                </a:solidFill>
                <a:latin typeface="Calibri"/>
              </a:rPr>
              <a:t>Ranker 1: TF-IDF over job text.</a:t>
            </a:r>
          </a:p>
          <a:p>
            <a:pPr algn="l" marL="274320" indent="-274320">
              <a:spcAft>
                <a:spcPts val="1000"/>
              </a:spcAft>
              <a:buChar char="•"/>
            </a:pPr>
            <a:r>
              <a:rPr sz="1800" b="0">
                <a:solidFill>
                  <a:srgbClr val="404040"/>
                </a:solidFill>
                <a:latin typeface="Calibri"/>
              </a:rPr>
              <a:t>Ranker 2: sentence-transformer all-MiniLM-L6-v2, pinned to a fixed revision.</a:t>
            </a:r>
          </a:p>
          <a:p>
            <a:pPr algn="l" marL="274320" indent="-274320">
              <a:spcAft>
                <a:spcPts val="1000"/>
              </a:spcAft>
              <a:buChar char="•"/>
            </a:pPr>
            <a:r>
              <a:rPr sz="1800" b="0">
                <a:solidFill>
                  <a:srgbClr val="404040"/>
                </a:solidFill>
                <a:latin typeface="Calibri"/>
              </a:rPr>
              <a:t>Ranker 3: hybrid of the two.</a:t>
            </a:r>
          </a:p>
          <a:p>
            <a:pPr algn="l" marL="274320" indent="-274320">
              <a:spcAft>
                <a:spcPts val="1000"/>
              </a:spcAft>
              <a:buChar char="•"/>
            </a:pPr>
            <a:r>
              <a:rPr sz="1800" b="0">
                <a:solidFill>
                  <a:srgbClr val="404040"/>
                </a:solidFill>
                <a:latin typeface="Calibri"/>
              </a:rPr>
              <a:t>Each result returns scores, matched and missing skills, a text explanation, the model version and a fallback reason (empty in production).</a:t>
            </a:r>
          </a:p>
        </p:txBody>
      </p:sp>
      <p:graphicFrame>
        <p:nvGraphicFramePr>
          <p:cNvPr id="8" name="Table 7"/>
          <p:cNvGraphicFramePr>
            <a:graphicFrameLocks noGrp="1"/>
          </p:cNvGraphicFramePr>
          <p:nvPr/>
        </p:nvGraphicFramePr>
        <p:xfrm>
          <a:off x="7315200" y="1463040"/>
          <a:ext cx="4297680" cy="3200400"/>
        </p:xfrm>
        <a:graphic>
          <a:graphicData uri="http://schemas.openxmlformats.org/drawingml/2006/table">
            <a:tbl>
              <a:tblPr firstRow="1" bandRow="1">
                <a:tableStyleId>{5C22544A-7EE6-4342-B048-85BDC9FD1C3A}</a:tableStyleId>
              </a:tblPr>
              <a:tblGrid>
                <a:gridCol w="2743200"/>
                <a:gridCol w="1554480"/>
              </a:tblGrid>
              <a:tr h="457200">
                <a:tc>
                  <a:txBody>
                    <a:bodyPr wrap="square"/>
                    <a:lstStyle/>
                    <a:p>
                      <a:r>
                        <a:rPr sz="1600" b="1">
                          <a:solidFill>
                            <a:srgbClr val="FFFFFF"/>
                          </a:solidFill>
                          <a:latin typeface="Calibri"/>
                        </a:rPr>
                        <a:t>Score component</a:t>
                      </a:r>
                    </a:p>
                  </a:txBody>
                  <a:tcPr marL="54864" marR="54864" marT="27432" marB="27432" anchor="ctr">
                    <a:solidFill>
                      <a:srgbClr val="1F3864"/>
                    </a:solidFill>
                  </a:tcPr>
                </a:tc>
                <a:tc>
                  <a:txBody>
                    <a:bodyPr wrap="square"/>
                    <a:lstStyle/>
                    <a:p>
                      <a:r>
                        <a:rPr sz="1600" b="1">
                          <a:solidFill>
                            <a:srgbClr val="FFFFFF"/>
                          </a:solidFill>
                          <a:latin typeface="Calibri"/>
                        </a:rPr>
                        <a:t>Weight</a:t>
                      </a:r>
                    </a:p>
                  </a:txBody>
                  <a:tcPr marL="54864" marR="54864" marT="27432" marB="27432" anchor="ctr">
                    <a:solidFill>
                      <a:srgbClr val="1F3864"/>
                    </a:solidFill>
                  </a:tcPr>
                </a:tc>
              </a:tr>
              <a:tr h="457200">
                <a:tc>
                  <a:txBody>
                    <a:bodyPr wrap="square"/>
                    <a:lstStyle/>
                    <a:p>
                      <a:r>
                        <a:rPr sz="1600">
                          <a:solidFill>
                            <a:srgbClr val="404040"/>
                          </a:solidFill>
                          <a:latin typeface="Calibri"/>
                        </a:rPr>
                        <a:t>Semantic</a:t>
                      </a:r>
                    </a:p>
                  </a:txBody>
                  <a:tcPr marL="54864" marR="54864" marT="27432" marB="27432" anchor="ctr">
                    <a:solidFill>
                      <a:srgbClr val="E8EEF7"/>
                    </a:solidFill>
                  </a:tcPr>
                </a:tc>
                <a:tc>
                  <a:txBody>
                    <a:bodyPr wrap="square"/>
                    <a:lstStyle/>
                    <a:p>
                      <a:r>
                        <a:rPr sz="1600">
                          <a:solidFill>
                            <a:srgbClr val="404040"/>
                          </a:solidFill>
                          <a:latin typeface="Calibri"/>
                        </a:rPr>
                        <a:t>0.40</a:t>
                      </a:r>
                    </a:p>
                  </a:txBody>
                  <a:tcPr marL="54864" marR="54864" marT="27432" marB="27432" anchor="ctr">
                    <a:solidFill>
                      <a:srgbClr val="E8EEF7"/>
                    </a:solidFill>
                  </a:tcPr>
                </a:tc>
              </a:tr>
              <a:tr h="457200">
                <a:tc>
                  <a:txBody>
                    <a:bodyPr wrap="square"/>
                    <a:lstStyle/>
                    <a:p>
                      <a:r>
                        <a:rPr sz="1600">
                          <a:solidFill>
                            <a:srgbClr val="404040"/>
                          </a:solidFill>
                          <a:latin typeface="Calibri"/>
                        </a:rPr>
                        <a:t>Skill</a:t>
                      </a:r>
                    </a:p>
                  </a:txBody>
                  <a:tcPr marL="54864" marR="54864" marT="27432" marB="27432" anchor="ctr">
                    <a:solidFill>
                      <a:srgbClr val="FFFFFF"/>
                    </a:solidFill>
                  </a:tcPr>
                </a:tc>
                <a:tc>
                  <a:txBody>
                    <a:bodyPr wrap="square"/>
                    <a:lstStyle/>
                    <a:p>
                      <a:r>
                        <a:rPr sz="1600">
                          <a:solidFill>
                            <a:srgbClr val="404040"/>
                          </a:solidFill>
                          <a:latin typeface="Calibri"/>
                        </a:rPr>
                        <a:t>0.30</a:t>
                      </a:r>
                    </a:p>
                  </a:txBody>
                  <a:tcPr marL="54864" marR="54864" marT="27432" marB="27432" anchor="ctr">
                    <a:solidFill>
                      <a:srgbClr val="FFFFFF"/>
                    </a:solidFill>
                  </a:tcPr>
                </a:tc>
              </a:tr>
              <a:tr h="457200">
                <a:tc>
                  <a:txBody>
                    <a:bodyPr wrap="square"/>
                    <a:lstStyle/>
                    <a:p>
                      <a:r>
                        <a:rPr sz="1600">
                          <a:solidFill>
                            <a:srgbClr val="404040"/>
                          </a:solidFill>
                          <a:latin typeface="Calibri"/>
                        </a:rPr>
                        <a:t>Eligibility</a:t>
                      </a:r>
                    </a:p>
                  </a:txBody>
                  <a:tcPr marL="54864" marR="54864" marT="27432" marB="27432" anchor="ctr">
                    <a:solidFill>
                      <a:srgbClr val="E8EEF7"/>
                    </a:solidFill>
                  </a:tcPr>
                </a:tc>
                <a:tc>
                  <a:txBody>
                    <a:bodyPr wrap="square"/>
                    <a:lstStyle/>
                    <a:p>
                      <a:r>
                        <a:rPr sz="1600">
                          <a:solidFill>
                            <a:srgbClr val="404040"/>
                          </a:solidFill>
                          <a:latin typeface="Calibri"/>
                        </a:rPr>
                        <a:t>0.15</a:t>
                      </a:r>
                    </a:p>
                  </a:txBody>
                  <a:tcPr marL="54864" marR="54864" marT="27432" marB="27432" anchor="ctr">
                    <a:solidFill>
                      <a:srgbClr val="E8EEF7"/>
                    </a:solidFill>
                  </a:tcPr>
                </a:tc>
              </a:tr>
              <a:tr h="457200">
                <a:tc>
                  <a:txBody>
                    <a:bodyPr wrap="square"/>
                    <a:lstStyle/>
                    <a:p>
                      <a:r>
                        <a:rPr sz="1600">
                          <a:solidFill>
                            <a:srgbClr val="404040"/>
                          </a:solidFill>
                          <a:latin typeface="Calibri"/>
                        </a:rPr>
                        <a:t>Location</a:t>
                      </a:r>
                    </a:p>
                  </a:txBody>
                  <a:tcPr marL="54864" marR="54864" marT="27432" marB="27432" anchor="ctr">
                    <a:solidFill>
                      <a:srgbClr val="FFFFFF"/>
                    </a:solidFill>
                  </a:tcPr>
                </a:tc>
                <a:tc>
                  <a:txBody>
                    <a:bodyPr wrap="square"/>
                    <a:lstStyle/>
                    <a:p>
                      <a:r>
                        <a:rPr sz="1600">
                          <a:solidFill>
                            <a:srgbClr val="404040"/>
                          </a:solidFill>
                          <a:latin typeface="Calibri"/>
                        </a:rPr>
                        <a:t>0.08</a:t>
                      </a:r>
                    </a:p>
                  </a:txBody>
                  <a:tcPr marL="54864" marR="54864" marT="27432" marB="27432" anchor="ctr">
                    <a:solidFill>
                      <a:srgbClr val="FFFFFF"/>
                    </a:solidFill>
                  </a:tcPr>
                </a:tc>
              </a:tr>
              <a:tr h="457200">
                <a:tc>
                  <a:txBody>
                    <a:bodyPr wrap="square"/>
                    <a:lstStyle/>
                    <a:p>
                      <a:r>
                        <a:rPr sz="1600">
                          <a:solidFill>
                            <a:srgbClr val="404040"/>
                          </a:solidFill>
                          <a:latin typeface="Calibri"/>
                        </a:rPr>
                        <a:t>Freshness</a:t>
                      </a:r>
                    </a:p>
                  </a:txBody>
                  <a:tcPr marL="54864" marR="54864" marT="27432" marB="27432" anchor="ctr">
                    <a:solidFill>
                      <a:srgbClr val="E8EEF7"/>
                    </a:solidFill>
                  </a:tcPr>
                </a:tc>
                <a:tc>
                  <a:txBody>
                    <a:bodyPr wrap="square"/>
                    <a:lstStyle/>
                    <a:p>
                      <a:r>
                        <a:rPr sz="1600">
                          <a:solidFill>
                            <a:srgbClr val="404040"/>
                          </a:solidFill>
                          <a:latin typeface="Calibri"/>
                        </a:rPr>
                        <a:t>0.07</a:t>
                      </a:r>
                    </a:p>
                  </a:txBody>
                  <a:tcPr marL="54864" marR="54864" marT="27432" marB="27432" anchor="ctr">
                    <a:solidFill>
                      <a:srgbClr val="E8EEF7"/>
                    </a:solidFill>
                  </a:tcPr>
                </a:tc>
              </a:tr>
              <a:tr h="457200">
                <a:tc>
                  <a:txBody>
                    <a:bodyPr wrap="square"/>
                    <a:lstStyle/>
                    <a:p>
                      <a:r>
                        <a:rPr sz="1600">
                          <a:solidFill>
                            <a:srgbClr val="404040"/>
                          </a:solidFill>
                          <a:latin typeface="Calibri"/>
                        </a:rPr>
                        <a:t>Total</a:t>
                      </a:r>
                    </a:p>
                  </a:txBody>
                  <a:tcPr marL="54864" marR="54864" marT="27432" marB="27432" anchor="ctr">
                    <a:solidFill>
                      <a:srgbClr val="FFFFFF"/>
                    </a:solidFill>
                  </a:tcPr>
                </a:tc>
                <a:tc>
                  <a:txBody>
                    <a:bodyPr wrap="square"/>
                    <a:lstStyle/>
                    <a:p>
                      <a:r>
                        <a:rPr sz="1600">
                          <a:solidFill>
                            <a:srgbClr val="404040"/>
                          </a:solidFill>
                          <a:latin typeface="Calibri"/>
                        </a:rPr>
                        <a:t>1.00</a:t>
                      </a:r>
                    </a:p>
                  </a:txBody>
                  <a:tcPr marL="54864" marR="54864" marT="27432" marB="27432" anchor="ctr">
                    <a:solidFill>
                      <a:srgbClr val="FFFFFF"/>
                    </a:solidFill>
                  </a:tcPr>
                </a:tc>
              </a:tr>
            </a:tbl>
          </a:graphicData>
        </a:graphic>
      </p:graphicFrame>
      <p:sp>
        <p:nvSpPr>
          <p:cNvPr id="9" name="TextBox 8"/>
          <p:cNvSpPr txBox="1"/>
          <p:nvPr/>
        </p:nvSpPr>
        <p:spPr>
          <a:xfrm>
            <a:off x="7315200" y="4846320"/>
            <a:ext cx="4297680" cy="1188720"/>
          </a:xfrm>
          <a:prstGeom prst="rect">
            <a:avLst/>
          </a:prstGeom>
          <a:noFill/>
        </p:spPr>
        <p:txBody>
          <a:bodyPr wrap="square" anchor="t" lIns="73152" rIns="73152" tIns="36576" bIns="36576">
            <a:spAutoFit/>
          </a:bodyPr>
          <a:lstStyle/>
          <a:p>
            <a:pPr algn="l">
              <a:spcAft>
                <a:spcPts val="600"/>
              </a:spcAft>
            </a:pPr>
            <a:r>
              <a:rPr sz="1500" b="0">
                <a:solidFill>
                  <a:srgbClr val="595959"/>
                </a:solidFill>
                <a:latin typeface="Calibri"/>
              </a:rPr>
              <a:t>Weights live in params.yaml, so changing them triggers a DVC rerun.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Reproducible pipeline with DVC</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7</a:t>
            </a:r>
          </a:p>
        </p:txBody>
      </p:sp>
      <p:sp>
        <p:nvSpPr>
          <p:cNvPr id="7" name="Rounded Rectangle 6"/>
          <p:cNvSpPr/>
          <p:nvPr/>
        </p:nvSpPr>
        <p:spPr>
          <a:xfrm>
            <a:off x="457200" y="1371600"/>
            <a:ext cx="256032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1  ingest</a:t>
            </a:r>
          </a:p>
          <a:p>
            <a:pPr algn="ctr"/>
            <a:r>
              <a:rPr sz="1200">
                <a:solidFill>
                  <a:srgbClr val="1F3864"/>
                </a:solidFill>
                <a:latin typeface="Calibri"/>
              </a:rPr>
              <a:t>raw snapshot</a:t>
            </a:r>
          </a:p>
        </p:txBody>
      </p:sp>
      <p:sp>
        <p:nvSpPr>
          <p:cNvPr id="8" name="Right Arrow 7"/>
          <p:cNvSpPr/>
          <p:nvPr/>
        </p:nvSpPr>
        <p:spPr>
          <a:xfrm>
            <a:off x="3035808" y="17830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291840" y="1371600"/>
            <a:ext cx="256032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2  preprocess</a:t>
            </a:r>
          </a:p>
          <a:p>
            <a:pPr algn="ctr"/>
            <a:r>
              <a:rPr sz="1200">
                <a:solidFill>
                  <a:srgbClr val="1F3864"/>
                </a:solidFill>
                <a:latin typeface="Calibri"/>
              </a:rPr>
              <a:t>clean jobs</a:t>
            </a:r>
          </a:p>
        </p:txBody>
      </p:sp>
      <p:sp>
        <p:nvSpPr>
          <p:cNvPr id="10" name="Right Arrow 9"/>
          <p:cNvSpPr/>
          <p:nvPr/>
        </p:nvSpPr>
        <p:spPr>
          <a:xfrm>
            <a:off x="5870448" y="17830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26480" y="1371600"/>
            <a:ext cx="256032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3  build_training_set</a:t>
            </a:r>
          </a:p>
          <a:p>
            <a:pPr algn="ctr"/>
            <a:r>
              <a:rPr sz="1200">
                <a:solidFill>
                  <a:srgbClr val="1F3864"/>
                </a:solidFill>
                <a:latin typeface="Calibri"/>
              </a:rPr>
              <a:t>dataset</a:t>
            </a:r>
          </a:p>
        </p:txBody>
      </p:sp>
      <p:sp>
        <p:nvSpPr>
          <p:cNvPr id="12" name="Right Arrow 11"/>
          <p:cNvSpPr/>
          <p:nvPr/>
        </p:nvSpPr>
        <p:spPr>
          <a:xfrm>
            <a:off x="8705088" y="17830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0" y="1371600"/>
            <a:ext cx="256032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4  train</a:t>
            </a:r>
          </a:p>
          <a:p>
            <a:pPr algn="ctr"/>
            <a:r>
              <a:rPr sz="1200">
                <a:solidFill>
                  <a:srgbClr val="1F3864"/>
                </a:solidFill>
                <a:latin typeface="Calibri"/>
              </a:rPr>
              <a:t>TF-IDF, embeddings</a:t>
            </a:r>
          </a:p>
        </p:txBody>
      </p:sp>
      <p:sp>
        <p:nvSpPr>
          <p:cNvPr id="14" name="Rounded Rectangle 13"/>
          <p:cNvSpPr/>
          <p:nvPr/>
        </p:nvSpPr>
        <p:spPr>
          <a:xfrm>
            <a:off x="1874519" y="2926080"/>
            <a:ext cx="256032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5  evaluate</a:t>
            </a:r>
          </a:p>
          <a:p>
            <a:pPr algn="ctr"/>
            <a:r>
              <a:rPr sz="1200">
                <a:solidFill>
                  <a:srgbClr val="1F3864"/>
                </a:solidFill>
                <a:latin typeface="Calibri"/>
              </a:rPr>
              <a:t>metrics</a:t>
            </a:r>
          </a:p>
        </p:txBody>
      </p:sp>
      <p:sp>
        <p:nvSpPr>
          <p:cNvPr id="15" name="Right Arrow 14"/>
          <p:cNvSpPr/>
          <p:nvPr/>
        </p:nvSpPr>
        <p:spPr>
          <a:xfrm>
            <a:off x="4453127" y="333756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09160" y="2926080"/>
            <a:ext cx="2560320" cy="1097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6  register</a:t>
            </a:r>
          </a:p>
          <a:p>
            <a:pPr algn="ctr"/>
            <a:r>
              <a:rPr sz="1200">
                <a:solidFill>
                  <a:srgbClr val="1F3864"/>
                </a:solidFill>
                <a:latin typeface="Calibri"/>
              </a:rPr>
              <a:t>MLflow version</a:t>
            </a:r>
          </a:p>
        </p:txBody>
      </p:sp>
      <p:sp>
        <p:nvSpPr>
          <p:cNvPr id="17" name="Right Arrow 16"/>
          <p:cNvSpPr/>
          <p:nvPr/>
        </p:nvSpPr>
        <p:spPr>
          <a:xfrm>
            <a:off x="7287768" y="333756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43800" y="2926080"/>
            <a:ext cx="2560320" cy="10972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9C1C1C"/>
                </a:solidFill>
                <a:latin typeface="Calibri"/>
              </a:rPr>
              <a:t>7  export_model</a:t>
            </a:r>
          </a:p>
          <a:p>
            <a:pPr algn="ctr"/>
            <a:r>
              <a:rPr sz="1200">
                <a:solidFill>
                  <a:srgbClr val="9C1C1C"/>
                </a:solidFill>
                <a:latin typeface="Calibri"/>
              </a:rPr>
              <a:t>verified bundle</a:t>
            </a:r>
          </a:p>
        </p:txBody>
      </p:sp>
      <p:sp>
        <p:nvSpPr>
          <p:cNvPr id="19" name="Down Arrow 18"/>
          <p:cNvSpPr/>
          <p:nvPr/>
        </p:nvSpPr>
        <p:spPr>
          <a:xfrm>
            <a:off x="10058400" y="2560320"/>
            <a:ext cx="365760" cy="320040"/>
          </a:xfrm>
          <a:prstGeom prst="down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343400"/>
            <a:ext cx="11064240" cy="2011680"/>
          </a:xfrm>
          <a:prstGeom prst="rect">
            <a:avLst/>
          </a:prstGeom>
          <a:noFill/>
        </p:spPr>
        <p:txBody>
          <a:bodyPr wrap="square" anchor="t" lIns="73152" rIns="73152" tIns="36576" bIns="36576">
            <a:spAutoFit/>
          </a:bodyPr>
          <a:lstStyle/>
          <a:p>
            <a:pPr algn="l" marL="274320" indent="-274320">
              <a:spcAft>
                <a:spcPts val="800"/>
              </a:spcAft>
              <a:buChar char="•"/>
            </a:pPr>
            <a:r>
              <a:rPr sz="1700" b="0">
                <a:solidFill>
                  <a:srgbClr val="404040"/>
                </a:solidFill>
                <a:latin typeface="Calibri"/>
              </a:rPr>
              <a:t>params.yaml holds the seed (42), the five score weights and the pinned embedding model revision.</a:t>
            </a:r>
          </a:p>
          <a:p>
            <a:pPr algn="l" marL="274320" indent="-274320">
              <a:spcAft>
                <a:spcPts val="800"/>
              </a:spcAft>
              <a:buChar char="•"/>
            </a:pPr>
            <a:r>
              <a:rPr sz="1700" b="0">
                <a:solidFill>
                  <a:srgbClr val="404040"/>
                </a:solidFill>
                <a:latin typeface="Calibri"/>
              </a:rPr>
              <a:t>dvc.lock records a hash of every input and output; Git commits it, so each commit maps to one data and model version.</a:t>
            </a:r>
          </a:p>
          <a:p>
            <a:pPr algn="l" marL="274320" indent="-274320">
              <a:spcAft>
                <a:spcPts val="800"/>
              </a:spcAft>
              <a:buChar char="•"/>
            </a:pPr>
            <a:r>
              <a:rPr sz="1700" b="0">
                <a:solidFill>
                  <a:srgbClr val="404040"/>
                </a:solidFill>
                <a:latin typeface="Calibri"/>
              </a:rPr>
              <a:t>Remote: S3 bucket, 21 objects, 92,630,923 bytes. dvc repro reruns only the stages that changed.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Experiment tracking and model registry with MLflow</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8</a:t>
            </a:r>
          </a:p>
        </p:txBody>
      </p:sp>
      <p:sp>
        <p:nvSpPr>
          <p:cNvPr id="7" name="Rounded Rectangle 6"/>
          <p:cNvSpPr/>
          <p:nvPr/>
        </p:nvSpPr>
        <p:spPr>
          <a:xfrm>
            <a:off x="548640" y="1280160"/>
            <a:ext cx="2148840" cy="128016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3400" b="1">
                <a:solidFill>
                  <a:srgbClr val="1F3864"/>
                </a:solidFill>
                <a:latin typeface="Calibri"/>
              </a:rPr>
              <a:t>12</a:t>
            </a:r>
          </a:p>
          <a:p>
            <a:pPr algn="ctr"/>
            <a:r>
              <a:rPr sz="1400">
                <a:solidFill>
                  <a:srgbClr val="1F3864"/>
                </a:solidFill>
                <a:latin typeface="Calibri"/>
              </a:rPr>
              <a:t>finished runs</a:t>
            </a:r>
          </a:p>
        </p:txBody>
      </p:sp>
      <p:sp>
        <p:nvSpPr>
          <p:cNvPr id="8" name="Rounded Rectangle 7"/>
          <p:cNvSpPr/>
          <p:nvPr/>
        </p:nvSpPr>
        <p:spPr>
          <a:xfrm>
            <a:off x="2880360" y="1280160"/>
            <a:ext cx="2148840" cy="128016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3400" b="1">
                <a:solidFill>
                  <a:srgbClr val="1F3864"/>
                </a:solidFill>
                <a:latin typeface="Calibri"/>
              </a:rPr>
              <a:t>4</a:t>
            </a:r>
          </a:p>
          <a:p>
            <a:pPr algn="ctr"/>
            <a:r>
              <a:rPr sz="1400">
                <a:solidFill>
                  <a:srgbClr val="1F3864"/>
                </a:solidFill>
                <a:latin typeface="Calibri"/>
              </a:rPr>
              <a:t>model versions</a:t>
            </a:r>
          </a:p>
        </p:txBody>
      </p:sp>
      <p:sp>
        <p:nvSpPr>
          <p:cNvPr id="9" name="Rounded Rectangle 8"/>
          <p:cNvSpPr/>
          <p:nvPr/>
        </p:nvSpPr>
        <p:spPr>
          <a:xfrm>
            <a:off x="5212079" y="1280160"/>
            <a:ext cx="2148840" cy="128016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3400" b="1">
                <a:solidFill>
                  <a:srgbClr val="1F3864"/>
                </a:solidFill>
                <a:latin typeface="Calibri"/>
              </a:rPr>
              <a:t>v4</a:t>
            </a:r>
          </a:p>
          <a:p>
            <a:pPr algn="ctr"/>
            <a:r>
              <a:rPr sz="1400">
                <a:solidFill>
                  <a:srgbClr val="1F3864"/>
                </a:solidFill>
                <a:latin typeface="Calibri"/>
              </a:rPr>
              <a:t>alias: production</a:t>
            </a:r>
          </a:p>
        </p:txBody>
      </p:sp>
      <p:graphicFrame>
        <p:nvGraphicFramePr>
          <p:cNvPr id="10" name="Table 9"/>
          <p:cNvGraphicFramePr>
            <a:graphicFrameLocks noGrp="1"/>
          </p:cNvGraphicFramePr>
          <p:nvPr/>
        </p:nvGraphicFramePr>
        <p:xfrm>
          <a:off x="548640" y="2834640"/>
          <a:ext cx="6858000" cy="2011680"/>
        </p:xfrm>
        <a:graphic>
          <a:graphicData uri="http://schemas.openxmlformats.org/drawingml/2006/table">
            <a:tbl>
              <a:tblPr firstRow="1" bandRow="1">
                <a:tableStyleId>{5C22544A-7EE6-4342-B048-85BDC9FD1C3A}</a:tableStyleId>
              </a:tblPr>
              <a:tblGrid>
                <a:gridCol w="2194560"/>
                <a:gridCol w="1188720"/>
                <a:gridCol w="1188720"/>
                <a:gridCol w="1005840"/>
                <a:gridCol w="1280160"/>
              </a:tblGrid>
              <a:tr h="502920">
                <a:tc>
                  <a:txBody>
                    <a:bodyPr wrap="square"/>
                    <a:lstStyle/>
                    <a:p>
                      <a:r>
                        <a:rPr sz="1400" b="1">
                          <a:solidFill>
                            <a:srgbClr val="FFFFFF"/>
                          </a:solidFill>
                          <a:latin typeface="Calibri"/>
                        </a:rPr>
                        <a:t>Ranker</a:t>
                      </a:r>
                    </a:p>
                  </a:txBody>
                  <a:tcPr marL="54864" marR="54864" marT="27432" marB="27432" anchor="ctr">
                    <a:solidFill>
                      <a:srgbClr val="1F3864"/>
                    </a:solidFill>
                  </a:tcPr>
                </a:tc>
                <a:tc>
                  <a:txBody>
                    <a:bodyPr wrap="square"/>
                    <a:lstStyle/>
                    <a:p>
                      <a:r>
                        <a:rPr sz="1400" b="1">
                          <a:solidFill>
                            <a:srgbClr val="FFFFFF"/>
                          </a:solidFill>
                          <a:latin typeface="Calibri"/>
                        </a:rPr>
                        <a:t>Val. nDCG@5</a:t>
                      </a:r>
                    </a:p>
                  </a:txBody>
                  <a:tcPr marL="54864" marR="54864" marT="27432" marB="27432" anchor="ctr">
                    <a:solidFill>
                      <a:srgbClr val="1F3864"/>
                    </a:solidFill>
                  </a:tcPr>
                </a:tc>
                <a:tc>
                  <a:txBody>
                    <a:bodyPr wrap="square"/>
                    <a:lstStyle/>
                    <a:p>
                      <a:r>
                        <a:rPr sz="1400" b="1">
                          <a:solidFill>
                            <a:srgbClr val="FFFFFF"/>
                          </a:solidFill>
                          <a:latin typeface="Calibri"/>
                        </a:rPr>
                        <a:t>Test nDCG@5</a:t>
                      </a:r>
                    </a:p>
                  </a:txBody>
                  <a:tcPr marL="54864" marR="54864" marT="27432" marB="27432" anchor="ctr">
                    <a:solidFill>
                      <a:srgbClr val="1F3864"/>
                    </a:solidFill>
                  </a:tcPr>
                </a:tc>
                <a:tc>
                  <a:txBody>
                    <a:bodyPr wrap="square"/>
                    <a:lstStyle/>
                    <a:p>
                      <a:r>
                        <a:rPr sz="1400" b="1">
                          <a:solidFill>
                            <a:srgbClr val="FFFFFF"/>
                          </a:solidFill>
                          <a:latin typeface="Calibri"/>
                        </a:rPr>
                        <a:t>Test MRR</a:t>
                      </a:r>
                    </a:p>
                  </a:txBody>
                  <a:tcPr marL="54864" marR="54864" marT="27432" marB="27432" anchor="ctr">
                    <a:solidFill>
                      <a:srgbClr val="1F3864"/>
                    </a:solidFill>
                  </a:tcPr>
                </a:tc>
                <a:tc>
                  <a:txBody>
                    <a:bodyPr wrap="square"/>
                    <a:lstStyle/>
                    <a:p>
                      <a:r>
                        <a:rPr sz="1400" b="1">
                          <a:solidFill>
                            <a:srgbClr val="FFFFFF"/>
                          </a:solidFill>
                          <a:latin typeface="Calibri"/>
                        </a:rPr>
                        <a:t>Test latency (ms)</a:t>
                      </a:r>
                    </a:p>
                  </a:txBody>
                  <a:tcPr marL="54864" marR="54864" marT="27432" marB="27432" anchor="ctr">
                    <a:solidFill>
                      <a:srgbClr val="1F3864"/>
                    </a:solidFill>
                  </a:tcPr>
                </a:tc>
              </a:tr>
              <a:tr h="502920">
                <a:tc>
                  <a:txBody>
                    <a:bodyPr wrap="square"/>
                    <a:lstStyle/>
                    <a:p>
                      <a:r>
                        <a:rPr sz="1400">
                          <a:solidFill>
                            <a:srgbClr val="404040"/>
                          </a:solidFill>
                          <a:latin typeface="Calibri"/>
                        </a:rPr>
                        <a:t>tfidf</a:t>
                      </a:r>
                    </a:p>
                  </a:txBody>
                  <a:tcPr marL="54864" marR="54864" marT="27432" marB="27432" anchor="ctr">
                    <a:solidFill>
                      <a:srgbClr val="E8EEF7"/>
                    </a:solidFill>
                  </a:tcPr>
                </a:tc>
                <a:tc>
                  <a:txBody>
                    <a:bodyPr wrap="square"/>
                    <a:lstStyle/>
                    <a:p>
                      <a:r>
                        <a:rPr sz="1400">
                          <a:solidFill>
                            <a:srgbClr val="404040"/>
                          </a:solidFill>
                          <a:latin typeface="Calibri"/>
                        </a:rPr>
                        <a:t>1.0</a:t>
                      </a:r>
                    </a:p>
                  </a:txBody>
                  <a:tcPr marL="54864" marR="54864" marT="27432" marB="27432" anchor="ctr">
                    <a:solidFill>
                      <a:srgbClr val="E8EEF7"/>
                    </a:solidFill>
                  </a:tcPr>
                </a:tc>
                <a:tc>
                  <a:txBody>
                    <a:bodyPr wrap="square"/>
                    <a:lstStyle/>
                    <a:p>
                      <a:r>
                        <a:rPr sz="1400">
                          <a:solidFill>
                            <a:srgbClr val="404040"/>
                          </a:solidFill>
                          <a:latin typeface="Calibri"/>
                        </a:rPr>
                        <a:t>1.0</a:t>
                      </a:r>
                    </a:p>
                  </a:txBody>
                  <a:tcPr marL="54864" marR="54864" marT="27432" marB="27432" anchor="ctr">
                    <a:solidFill>
                      <a:srgbClr val="E8EEF7"/>
                    </a:solidFill>
                  </a:tcPr>
                </a:tc>
                <a:tc>
                  <a:txBody>
                    <a:bodyPr wrap="square"/>
                    <a:lstStyle/>
                    <a:p>
                      <a:r>
                        <a:rPr sz="1400">
                          <a:solidFill>
                            <a:srgbClr val="404040"/>
                          </a:solidFill>
                          <a:latin typeface="Calibri"/>
                        </a:rPr>
                        <a:t>1.0</a:t>
                      </a:r>
                    </a:p>
                  </a:txBody>
                  <a:tcPr marL="54864" marR="54864" marT="27432" marB="27432" anchor="ctr">
                    <a:solidFill>
                      <a:srgbClr val="E8EEF7"/>
                    </a:solidFill>
                  </a:tcPr>
                </a:tc>
                <a:tc>
                  <a:txBody>
                    <a:bodyPr wrap="square"/>
                    <a:lstStyle/>
                    <a:p>
                      <a:r>
                        <a:rPr sz="1400">
                          <a:solidFill>
                            <a:srgbClr val="404040"/>
                          </a:solidFill>
                          <a:latin typeface="Calibri"/>
                        </a:rPr>
                        <a:t>26.94</a:t>
                      </a:r>
                    </a:p>
                  </a:txBody>
                  <a:tcPr marL="54864" marR="54864" marT="27432" marB="27432" anchor="ctr">
                    <a:solidFill>
                      <a:srgbClr val="E8EEF7"/>
                    </a:solidFill>
                  </a:tcPr>
                </a:tc>
              </a:tr>
              <a:tr h="502920">
                <a:tc>
                  <a:txBody>
                    <a:bodyPr wrap="square"/>
                    <a:lstStyle/>
                    <a:p>
                      <a:r>
                        <a:rPr sz="1400">
                          <a:solidFill>
                            <a:srgbClr val="404040"/>
                          </a:solidFill>
                          <a:latin typeface="Calibri"/>
                        </a:rPr>
                        <a:t>sentence_transformer</a:t>
                      </a:r>
                    </a:p>
                  </a:txBody>
                  <a:tcPr marL="54864" marR="54864" marT="27432" marB="27432" anchor="ctr">
                    <a:solidFill>
                      <a:srgbClr val="FFFFFF"/>
                    </a:solidFill>
                  </a:tcPr>
                </a:tc>
                <a:tc>
                  <a:txBody>
                    <a:bodyPr wrap="square"/>
                    <a:lstStyle/>
                    <a:p>
                      <a:r>
                        <a:rPr sz="1400">
                          <a:solidFill>
                            <a:srgbClr val="404040"/>
                          </a:solidFill>
                          <a:latin typeface="Calibri"/>
                        </a:rPr>
                        <a:t>1.0</a:t>
                      </a:r>
                    </a:p>
                  </a:txBody>
                  <a:tcPr marL="54864" marR="54864" marT="27432" marB="27432" anchor="ctr">
                    <a:solidFill>
                      <a:srgbClr val="FFFFFF"/>
                    </a:solidFill>
                  </a:tcPr>
                </a:tc>
                <a:tc>
                  <a:txBody>
                    <a:bodyPr wrap="square"/>
                    <a:lstStyle/>
                    <a:p>
                      <a:r>
                        <a:rPr sz="1400">
                          <a:solidFill>
                            <a:srgbClr val="404040"/>
                          </a:solidFill>
                          <a:latin typeface="Calibri"/>
                        </a:rPr>
                        <a:t>1.0</a:t>
                      </a:r>
                    </a:p>
                  </a:txBody>
                  <a:tcPr marL="54864" marR="54864" marT="27432" marB="27432" anchor="ctr">
                    <a:solidFill>
                      <a:srgbClr val="FFFFFF"/>
                    </a:solidFill>
                  </a:tcPr>
                </a:tc>
                <a:tc>
                  <a:txBody>
                    <a:bodyPr wrap="square"/>
                    <a:lstStyle/>
                    <a:p>
                      <a:r>
                        <a:rPr sz="1400">
                          <a:solidFill>
                            <a:srgbClr val="404040"/>
                          </a:solidFill>
                          <a:latin typeface="Calibri"/>
                        </a:rPr>
                        <a:t>1.0</a:t>
                      </a:r>
                    </a:p>
                  </a:txBody>
                  <a:tcPr marL="54864" marR="54864" marT="27432" marB="27432" anchor="ctr">
                    <a:solidFill>
                      <a:srgbClr val="FFFFFF"/>
                    </a:solidFill>
                  </a:tcPr>
                </a:tc>
                <a:tc>
                  <a:txBody>
                    <a:bodyPr wrap="square"/>
                    <a:lstStyle/>
                    <a:p>
                      <a:r>
                        <a:rPr sz="1400">
                          <a:solidFill>
                            <a:srgbClr val="404040"/>
                          </a:solidFill>
                          <a:latin typeface="Calibri"/>
                        </a:rPr>
                        <a:t>30.88</a:t>
                      </a:r>
                    </a:p>
                  </a:txBody>
                  <a:tcPr marL="54864" marR="54864" marT="27432" marB="27432" anchor="ctr">
                    <a:solidFill>
                      <a:srgbClr val="FFFFFF"/>
                    </a:solidFill>
                  </a:tcPr>
                </a:tc>
              </a:tr>
              <a:tr h="502920">
                <a:tc>
                  <a:txBody>
                    <a:bodyPr wrap="square"/>
                    <a:lstStyle/>
                    <a:p>
                      <a:r>
                        <a:rPr sz="1400">
                          <a:solidFill>
                            <a:srgbClr val="404040"/>
                          </a:solidFill>
                          <a:latin typeface="Calibri"/>
                        </a:rPr>
                        <a:t>hybrid</a:t>
                      </a:r>
                    </a:p>
                  </a:txBody>
                  <a:tcPr marL="54864" marR="54864" marT="27432" marB="27432" anchor="ctr">
                    <a:solidFill>
                      <a:srgbClr val="E8EEF7"/>
                    </a:solidFill>
                  </a:tcPr>
                </a:tc>
                <a:tc>
                  <a:txBody>
                    <a:bodyPr wrap="square"/>
                    <a:lstStyle/>
                    <a:p>
                      <a:r>
                        <a:rPr sz="1400">
                          <a:solidFill>
                            <a:srgbClr val="404040"/>
                          </a:solidFill>
                          <a:latin typeface="Calibri"/>
                        </a:rPr>
                        <a:t>1.0</a:t>
                      </a:r>
                    </a:p>
                  </a:txBody>
                  <a:tcPr marL="54864" marR="54864" marT="27432" marB="27432" anchor="ctr">
                    <a:solidFill>
                      <a:srgbClr val="E8EEF7"/>
                    </a:solidFill>
                  </a:tcPr>
                </a:tc>
                <a:tc>
                  <a:txBody>
                    <a:bodyPr wrap="square"/>
                    <a:lstStyle/>
                    <a:p>
                      <a:r>
                        <a:rPr sz="1400">
                          <a:solidFill>
                            <a:srgbClr val="404040"/>
                          </a:solidFill>
                          <a:latin typeface="Calibri"/>
                        </a:rPr>
                        <a:t>0.7426</a:t>
                      </a:r>
                    </a:p>
                  </a:txBody>
                  <a:tcPr marL="54864" marR="54864" marT="27432" marB="27432" anchor="ctr">
                    <a:solidFill>
                      <a:srgbClr val="E8EEF7"/>
                    </a:solidFill>
                  </a:tcPr>
                </a:tc>
                <a:tc>
                  <a:txBody>
                    <a:bodyPr wrap="square"/>
                    <a:lstStyle/>
                    <a:p>
                      <a:r>
                        <a:rPr sz="1400">
                          <a:solidFill>
                            <a:srgbClr val="404040"/>
                          </a:solidFill>
                          <a:latin typeface="Calibri"/>
                        </a:rPr>
                        <a:t>1.0</a:t>
                      </a:r>
                    </a:p>
                  </a:txBody>
                  <a:tcPr marL="54864" marR="54864" marT="27432" marB="27432" anchor="ctr">
                    <a:solidFill>
                      <a:srgbClr val="E8EEF7"/>
                    </a:solidFill>
                  </a:tcPr>
                </a:tc>
                <a:tc>
                  <a:txBody>
                    <a:bodyPr wrap="square"/>
                    <a:lstStyle/>
                    <a:p>
                      <a:r>
                        <a:rPr sz="1400">
                          <a:solidFill>
                            <a:srgbClr val="404040"/>
                          </a:solidFill>
                          <a:latin typeface="Calibri"/>
                        </a:rPr>
                        <a:t>29.00</a:t>
                      </a:r>
                    </a:p>
                  </a:txBody>
                  <a:tcPr marL="54864" marR="54864" marT="27432" marB="27432" anchor="ctr">
                    <a:solidFill>
                      <a:srgbClr val="E8EEF7"/>
                    </a:solidFill>
                  </a:tcPr>
                </a:tc>
              </a:tr>
            </a:tbl>
          </a:graphicData>
        </a:graphic>
      </p:graphicFrame>
      <p:sp>
        <p:nvSpPr>
          <p:cNvPr id="11" name="TextBox 10"/>
          <p:cNvSpPr txBox="1"/>
          <p:nvPr/>
        </p:nvSpPr>
        <p:spPr>
          <a:xfrm>
            <a:off x="7772400" y="1280160"/>
            <a:ext cx="3931920" cy="4937760"/>
          </a:xfrm>
          <a:prstGeom prst="rect">
            <a:avLst/>
          </a:prstGeom>
          <a:noFill/>
        </p:spPr>
        <p:txBody>
          <a:bodyPr wrap="square" anchor="t" lIns="73152" rIns="73152" tIns="36576" bIns="36576">
            <a:spAutoFit/>
          </a:bodyPr>
          <a:lstStyle/>
          <a:p>
            <a:pPr algn="l" marL="274320" indent="-274320">
              <a:spcAft>
                <a:spcPts val="1000"/>
              </a:spcAft>
              <a:buChar char="•"/>
            </a:pPr>
            <a:r>
              <a:rPr sz="1600" b="0">
                <a:solidFill>
                  <a:srgbClr val="404040"/>
                </a:solidFill>
                <a:latin typeface="Calibri"/>
              </a:rPr>
              <a:t>Selection rule: validation nDCG@5, then Precision@5, then algorithm name.</a:t>
            </a:r>
          </a:p>
          <a:p>
            <a:pPr algn="l" marL="274320" indent="-274320">
              <a:spcAft>
                <a:spcPts val="1000"/>
              </a:spcAft>
              <a:buChar char="•"/>
            </a:pPr>
            <a:r>
              <a:rPr sz="1600" b="0">
                <a:solidFill>
                  <a:srgbClr val="404040"/>
                </a:solidFill>
                <a:latin typeface="Calibri"/>
              </a:rPr>
              <a:t>All three tie on the first two, so the name decides and TF-IDF is chosen.</a:t>
            </a:r>
          </a:p>
          <a:p>
            <a:pPr algn="l" marL="274320" indent="-274320">
              <a:spcAft>
                <a:spcPts val="1000"/>
              </a:spcAft>
              <a:buChar char="•"/>
            </a:pPr>
            <a:r>
              <a:rPr sz="1600" b="0">
                <a:solidFill>
                  <a:srgbClr val="404040"/>
                </a:solidFill>
                <a:latin typeface="Calibri"/>
              </a:rPr>
              <a:t>Latency is not part of the rule.</a:t>
            </a:r>
          </a:p>
          <a:p>
            <a:pPr algn="l" marL="274320" indent="-274320">
              <a:spcAft>
                <a:spcPts val="1000"/>
              </a:spcAft>
              <a:buChar char="•"/>
            </a:pPr>
            <a:r>
              <a:rPr sz="1600" b="0">
                <a:solidFill>
                  <a:srgbClr val="404040"/>
                </a:solidFill>
                <a:latin typeface="Calibri"/>
              </a:rPr>
              <a:t>Benchmark: six fictional queries with illustrative labels. It proves the pipeline works, not ranking quality.</a:t>
            </a:r>
          </a:p>
        </p:txBody>
      </p:sp>
      <p:sp>
        <p:nvSpPr>
          <p:cNvPr id="12" name="TextBox 11"/>
          <p:cNvSpPr txBox="1"/>
          <p:nvPr/>
        </p:nvSpPr>
        <p:spPr>
          <a:xfrm>
            <a:off x="548640" y="5029200"/>
            <a:ext cx="6949440" cy="1097280"/>
          </a:xfrm>
          <a:prstGeom prst="rect">
            <a:avLst/>
          </a:prstGeom>
          <a:noFill/>
        </p:spPr>
        <p:txBody>
          <a:bodyPr wrap="square" anchor="t" lIns="73152" rIns="73152" tIns="36576" bIns="36576">
            <a:spAutoFit/>
          </a:bodyPr>
          <a:lstStyle/>
          <a:p>
            <a:pPr algn="l">
              <a:spcAft>
                <a:spcPts val="600"/>
              </a:spcAft>
            </a:pPr>
            <a:r>
              <a:rPr sz="1500" b="0">
                <a:solidFill>
                  <a:srgbClr val="595959"/>
                </a:solidFill>
                <a:latin typeface="Calibri"/>
              </a:rPr>
              <a:t>Metrics are copied from the saved MLflow run records, not typed by hand.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Model bundle and fail-closed serving</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9</a:t>
            </a:r>
          </a:p>
        </p:txBody>
      </p:sp>
      <p:sp>
        <p:nvSpPr>
          <p:cNvPr id="7" name="Rounded Rectangle 6"/>
          <p:cNvSpPr/>
          <p:nvPr/>
        </p:nvSpPr>
        <p:spPr>
          <a:xfrm>
            <a:off x="548640" y="1234440"/>
            <a:ext cx="5120640" cy="6400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Export bundle</a:t>
            </a:r>
          </a:p>
        </p:txBody>
      </p:sp>
      <p:sp>
        <p:nvSpPr>
          <p:cNvPr id="8" name="Down Arrow 7"/>
          <p:cNvSpPr/>
          <p:nvPr/>
        </p:nvSpPr>
        <p:spPr>
          <a:xfrm>
            <a:off x="2971800" y="1856231"/>
            <a:ext cx="274320" cy="201168"/>
          </a:xfrm>
          <a:prstGeom prst="down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5120640" cy="6400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manifest.json with checksums</a:t>
            </a:r>
          </a:p>
        </p:txBody>
      </p:sp>
      <p:sp>
        <p:nvSpPr>
          <p:cNvPr id="10" name="Down Arrow 9"/>
          <p:cNvSpPr/>
          <p:nvPr/>
        </p:nvSpPr>
        <p:spPr>
          <a:xfrm>
            <a:off x="2971800" y="2679191"/>
            <a:ext cx="274320" cy="201168"/>
          </a:xfrm>
          <a:prstGeom prst="down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880360"/>
            <a:ext cx="5120640" cy="6400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Bundle ID = SHA-256 of manifest</a:t>
            </a:r>
          </a:p>
        </p:txBody>
      </p:sp>
      <p:sp>
        <p:nvSpPr>
          <p:cNvPr id="12" name="Down Arrow 11"/>
          <p:cNvSpPr/>
          <p:nvPr/>
        </p:nvSpPr>
        <p:spPr>
          <a:xfrm>
            <a:off x="2971800" y="3502152"/>
            <a:ext cx="274320" cy="201168"/>
          </a:xfrm>
          <a:prstGeom prst="down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703320"/>
            <a:ext cx="5120640" cy="6400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Push to S3 with DVC</a:t>
            </a:r>
          </a:p>
        </p:txBody>
      </p:sp>
      <p:sp>
        <p:nvSpPr>
          <p:cNvPr id="14" name="Down Arrow 13"/>
          <p:cNvSpPr/>
          <p:nvPr/>
        </p:nvSpPr>
        <p:spPr>
          <a:xfrm>
            <a:off x="2971800" y="4325112"/>
            <a:ext cx="274320" cy="201168"/>
          </a:xfrm>
          <a:prstGeom prst="down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4526280"/>
            <a:ext cx="5120640" cy="6400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F3864"/>
                </a:solidFill>
                <a:latin typeface="Calibri"/>
              </a:rPr>
              <a:t>Pull on EC2 and validate</a:t>
            </a:r>
          </a:p>
        </p:txBody>
      </p:sp>
      <p:sp>
        <p:nvSpPr>
          <p:cNvPr id="16" name="Down Arrow 15"/>
          <p:cNvSpPr/>
          <p:nvPr/>
        </p:nvSpPr>
        <p:spPr>
          <a:xfrm>
            <a:off x="2971800" y="5148072"/>
            <a:ext cx="274320" cy="201168"/>
          </a:xfrm>
          <a:prstGeom prst="down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349240"/>
            <a:ext cx="5120640" cy="6400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9C1C1C"/>
                </a:solidFill>
                <a:latin typeface="Calibri"/>
              </a:rPr>
              <a:t>Serve</a:t>
            </a:r>
          </a:p>
        </p:txBody>
      </p:sp>
      <p:sp>
        <p:nvSpPr>
          <p:cNvPr id="18" name="TextBox 17"/>
          <p:cNvSpPr txBox="1"/>
          <p:nvPr/>
        </p:nvSpPr>
        <p:spPr>
          <a:xfrm>
            <a:off x="6126480" y="1280160"/>
            <a:ext cx="5577840" cy="4937760"/>
          </a:xfrm>
          <a:prstGeom prst="rect">
            <a:avLst/>
          </a:prstGeom>
          <a:noFill/>
        </p:spPr>
        <p:txBody>
          <a:bodyPr wrap="square" anchor="t" lIns="73152" rIns="73152" tIns="36576" bIns="36576">
            <a:spAutoFit/>
          </a:bodyPr>
          <a:lstStyle/>
          <a:p>
            <a:pPr algn="l" marL="274320" indent="-274320">
              <a:spcAft>
                <a:spcPts val="1200"/>
              </a:spcAft>
              <a:buChar char="•"/>
            </a:pPr>
            <a:r>
              <a:rPr sz="1800" b="0">
                <a:solidFill>
                  <a:srgbClr val="404040"/>
                </a:solidFill>
                <a:latin typeface="Calibri"/>
              </a:rPr>
              <a:t>Fail closed: missing, corrupt or incompatible bundle gives HTTP 503, never a silent fallback.</a:t>
            </a:r>
          </a:p>
          <a:p>
            <a:pPr algn="l" marL="274320" indent="-274320">
              <a:spcAft>
                <a:spcPts val="1200"/>
              </a:spcAft>
              <a:buChar char="•"/>
            </a:pPr>
            <a:r>
              <a:rPr sz="1800" b="0">
                <a:solidFill>
                  <a:srgbClr val="404040"/>
                </a:solidFill>
                <a:latin typeface="Calibri"/>
              </a:rPr>
              <a:t>Live bundle ID: ded4d86e980bff82...</a:t>
            </a:r>
          </a:p>
          <a:p>
            <a:pPr algn="l" marL="274320" indent="-274320">
              <a:spcAft>
                <a:spcPts val="1200"/>
              </a:spcAft>
              <a:buChar char="•"/>
            </a:pPr>
            <a:r>
              <a:rPr sz="1800" b="0">
                <a:solidFill>
                  <a:srgbClr val="404040"/>
                </a:solidFill>
                <a:latin typeface="Calibri"/>
              </a:rPr>
              <a:t>Model version b3e854956e87-574536b6 is the dataset hash prefix plus the training commit prefix.</a:t>
            </a:r>
          </a:p>
          <a:p>
            <a:pPr algn="l" marL="274320" indent="-274320">
              <a:spcAft>
                <a:spcPts val="1200"/>
              </a:spcAft>
              <a:buChar char="•"/>
            </a:pPr>
            <a:r>
              <a:rPr sz="1800" b="0">
                <a:solidFill>
                  <a:srgbClr val="404040"/>
                </a:solidFill>
                <a:latin typeface="Calibri"/>
              </a:rPr>
              <a:t>Every result carries model_version and fallback_reason (empty in production).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CI/CD pipeline with GitHub Actions</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10</a:t>
            </a:r>
          </a:p>
        </p:txBody>
      </p:sp>
      <p:sp>
        <p:nvSpPr>
          <p:cNvPr id="7" name="Rounded Rectangle 6"/>
          <p:cNvSpPr/>
          <p:nvPr/>
        </p:nvSpPr>
        <p:spPr>
          <a:xfrm>
            <a:off x="411480" y="1280160"/>
            <a:ext cx="1600200" cy="868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3864"/>
                </a:solidFill>
                <a:latin typeface="Calibri"/>
              </a:rPr>
              <a:t>Push to main</a:t>
            </a:r>
          </a:p>
        </p:txBody>
      </p:sp>
      <p:sp>
        <p:nvSpPr>
          <p:cNvPr id="8" name="Right Arrow 7"/>
          <p:cNvSpPr/>
          <p:nvPr/>
        </p:nvSpPr>
        <p:spPr>
          <a:xfrm>
            <a:off x="2029968" y="15544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31720" y="1280160"/>
            <a:ext cx="1600200" cy="868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3864"/>
                </a:solidFill>
                <a:latin typeface="Calibri"/>
              </a:rPr>
              <a:t>Checks</a:t>
            </a:r>
          </a:p>
        </p:txBody>
      </p:sp>
      <p:sp>
        <p:nvSpPr>
          <p:cNvPr id="10" name="Right Arrow 9"/>
          <p:cNvSpPr/>
          <p:nvPr/>
        </p:nvSpPr>
        <p:spPr>
          <a:xfrm>
            <a:off x="3950208" y="15544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51960" y="1280160"/>
            <a:ext cx="1600200" cy="868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3864"/>
                </a:solidFill>
                <a:latin typeface="Calibri"/>
              </a:rPr>
              <a:t>Build images</a:t>
            </a:r>
          </a:p>
        </p:txBody>
      </p:sp>
      <p:sp>
        <p:nvSpPr>
          <p:cNvPr id="12" name="Right Arrow 11"/>
          <p:cNvSpPr/>
          <p:nvPr/>
        </p:nvSpPr>
        <p:spPr>
          <a:xfrm>
            <a:off x="5870448" y="15544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280160"/>
            <a:ext cx="1600200" cy="868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3864"/>
                </a:solidFill>
                <a:latin typeface="Calibri"/>
              </a:rPr>
              <a:t>Push to ECR</a:t>
            </a:r>
          </a:p>
        </p:txBody>
      </p:sp>
      <p:sp>
        <p:nvSpPr>
          <p:cNvPr id="14" name="Right Arrow 13"/>
          <p:cNvSpPr/>
          <p:nvPr/>
        </p:nvSpPr>
        <p:spPr>
          <a:xfrm>
            <a:off x="7790688" y="15544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92440" y="1280160"/>
            <a:ext cx="1600200" cy="868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3864"/>
                </a:solidFill>
                <a:latin typeface="Calibri"/>
              </a:rPr>
              <a:t>Deploy (SSM)</a:t>
            </a:r>
          </a:p>
        </p:txBody>
      </p:sp>
      <p:sp>
        <p:nvSpPr>
          <p:cNvPr id="16" name="Right Arrow 15"/>
          <p:cNvSpPr/>
          <p:nvPr/>
        </p:nvSpPr>
        <p:spPr>
          <a:xfrm>
            <a:off x="9710928" y="1554480"/>
            <a:ext cx="274320" cy="274320"/>
          </a:xfrm>
          <a:prstGeom prst="rightArrow">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12680" y="1280160"/>
            <a:ext cx="1600200" cy="8686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9C1C1C"/>
                </a:solidFill>
                <a:latin typeface="Calibri"/>
              </a:rPr>
              <a:t>Verify /ready</a:t>
            </a:r>
          </a:p>
        </p:txBody>
      </p:sp>
      <p:sp>
        <p:nvSpPr>
          <p:cNvPr id="18" name="TextBox 17"/>
          <p:cNvSpPr txBox="1"/>
          <p:nvPr/>
        </p:nvSpPr>
        <p:spPr>
          <a:xfrm>
            <a:off x="457200" y="2514600"/>
            <a:ext cx="3611880" cy="457200"/>
          </a:xfrm>
          <a:prstGeom prst="rect">
            <a:avLst/>
          </a:prstGeom>
          <a:noFill/>
        </p:spPr>
        <p:txBody>
          <a:bodyPr wrap="square" anchor="t" lIns="73152" rIns="73152" tIns="36576" bIns="36576">
            <a:spAutoFit/>
          </a:bodyPr>
          <a:lstStyle/>
          <a:p>
            <a:pPr algn="l">
              <a:spcAft>
                <a:spcPts val="600"/>
              </a:spcAft>
            </a:pPr>
            <a:r>
              <a:rPr sz="2000" b="1">
                <a:solidFill>
                  <a:srgbClr val="1F3864"/>
                </a:solidFill>
                <a:latin typeface="Calibri"/>
              </a:rPr>
              <a:t>Checks</a:t>
            </a:r>
          </a:p>
        </p:txBody>
      </p:sp>
      <p:sp>
        <p:nvSpPr>
          <p:cNvPr id="19" name="TextBox 18"/>
          <p:cNvSpPr txBox="1"/>
          <p:nvPr/>
        </p:nvSpPr>
        <p:spPr>
          <a:xfrm>
            <a:off x="457200" y="3017520"/>
            <a:ext cx="3611880" cy="3200400"/>
          </a:xfrm>
          <a:prstGeom prst="rect">
            <a:avLst/>
          </a:prstGeom>
          <a:noFill/>
        </p:spPr>
        <p:txBody>
          <a:bodyPr wrap="square" anchor="t" lIns="73152" rIns="73152" tIns="36576" bIns="36576">
            <a:spAutoFit/>
          </a:bodyPr>
          <a:lstStyle/>
          <a:p>
            <a:pPr algn="l" marL="274320" indent="-274320">
              <a:spcAft>
                <a:spcPts val="800"/>
              </a:spcAft>
              <a:buChar char="•"/>
            </a:pPr>
            <a:r>
              <a:rPr sz="1500" b="0">
                <a:solidFill>
                  <a:srgbClr val="404040"/>
                </a:solidFill>
                <a:latin typeface="Calibri"/>
              </a:rPr>
              <a:t>Backend: Ruff, pytest, migration check</a:t>
            </a:r>
          </a:p>
          <a:p>
            <a:pPr algn="l" marL="274320" indent="-274320">
              <a:spcAft>
                <a:spcPts val="800"/>
              </a:spcAft>
              <a:buChar char="•"/>
            </a:pPr>
            <a:r>
              <a:rPr sz="1500" b="0">
                <a:solidFill>
                  <a:srgbClr val="404040"/>
                </a:solidFill>
                <a:latin typeface="Calibri"/>
              </a:rPr>
              <a:t>Frontend: types, ESLint, Prettier, tests, build, npm audit</a:t>
            </a:r>
          </a:p>
          <a:p>
            <a:pPr algn="l" marL="274320" indent="-274320">
              <a:spcAft>
                <a:spcPts val="800"/>
              </a:spcAft>
              <a:buChar char="•"/>
            </a:pPr>
            <a:r>
              <a:rPr sz="1500" b="0">
                <a:solidFill>
                  <a:srgbClr val="404040"/>
                </a:solidFill>
                <a:latin typeface="Calibri"/>
              </a:rPr>
              <a:t>Monitoring: config and alert-rule tests</a:t>
            </a:r>
          </a:p>
        </p:txBody>
      </p:sp>
      <p:sp>
        <p:nvSpPr>
          <p:cNvPr id="20" name="TextBox 19"/>
          <p:cNvSpPr txBox="1"/>
          <p:nvPr/>
        </p:nvSpPr>
        <p:spPr>
          <a:xfrm>
            <a:off x="4297680" y="2514600"/>
            <a:ext cx="3611880" cy="457200"/>
          </a:xfrm>
          <a:prstGeom prst="rect">
            <a:avLst/>
          </a:prstGeom>
          <a:noFill/>
        </p:spPr>
        <p:txBody>
          <a:bodyPr wrap="square" anchor="t" lIns="73152" rIns="73152" tIns="36576" bIns="36576">
            <a:spAutoFit/>
          </a:bodyPr>
          <a:lstStyle/>
          <a:p>
            <a:pPr algn="l">
              <a:spcAft>
                <a:spcPts val="600"/>
              </a:spcAft>
            </a:pPr>
            <a:r>
              <a:rPr sz="2000" b="1">
                <a:solidFill>
                  <a:srgbClr val="1F3864"/>
                </a:solidFill>
                <a:latin typeface="Calibri"/>
              </a:rPr>
              <a:t>Build and publish</a:t>
            </a:r>
          </a:p>
        </p:txBody>
      </p:sp>
      <p:sp>
        <p:nvSpPr>
          <p:cNvPr id="21" name="TextBox 20"/>
          <p:cNvSpPr txBox="1"/>
          <p:nvPr/>
        </p:nvSpPr>
        <p:spPr>
          <a:xfrm>
            <a:off x="4297680" y="3017520"/>
            <a:ext cx="3611880" cy="3200400"/>
          </a:xfrm>
          <a:prstGeom prst="rect">
            <a:avLst/>
          </a:prstGeom>
          <a:noFill/>
        </p:spPr>
        <p:txBody>
          <a:bodyPr wrap="square" anchor="t" lIns="73152" rIns="73152" tIns="36576" bIns="36576">
            <a:spAutoFit/>
          </a:bodyPr>
          <a:lstStyle/>
          <a:p>
            <a:pPr algn="l" marL="274320" indent="-274320">
              <a:spcAft>
                <a:spcPts val="800"/>
              </a:spcAft>
              <a:buChar char="•"/>
            </a:pPr>
            <a:r>
              <a:rPr sz="1500" b="0">
                <a:solidFill>
                  <a:srgbClr val="404040"/>
                </a:solidFill>
                <a:latin typeface="Calibri"/>
              </a:rPr>
              <a:t>API and web images tagged with the full commit SHA</a:t>
            </a:r>
          </a:p>
          <a:p>
            <a:pPr algn="l" marL="274320" indent="-274320">
              <a:spcAft>
                <a:spcPts val="800"/>
              </a:spcAft>
              <a:buChar char="•"/>
            </a:pPr>
            <a:r>
              <a:rPr sz="1500" b="0">
                <a:solidFill>
                  <a:srgbClr val="404040"/>
                </a:solidFill>
                <a:latin typeface="Calibri"/>
              </a:rPr>
              <a:t>ECR tags are immutable, so they cannot be overwritten</a:t>
            </a:r>
          </a:p>
          <a:p>
            <a:pPr algn="l" marL="274320" indent="-274320">
              <a:spcAft>
                <a:spcPts val="800"/>
              </a:spcAft>
              <a:buChar char="•"/>
            </a:pPr>
            <a:r>
              <a:rPr sz="1500" b="0">
                <a:solidFill>
                  <a:srgbClr val="404040"/>
                </a:solidFill>
                <a:latin typeface="Calibri"/>
              </a:rPr>
              <a:t>ECR scans images on push</a:t>
            </a:r>
          </a:p>
        </p:txBody>
      </p:sp>
      <p:sp>
        <p:nvSpPr>
          <p:cNvPr id="22" name="TextBox 21"/>
          <p:cNvSpPr txBox="1"/>
          <p:nvPr/>
        </p:nvSpPr>
        <p:spPr>
          <a:xfrm>
            <a:off x="8138160" y="2514600"/>
            <a:ext cx="3611880" cy="457200"/>
          </a:xfrm>
          <a:prstGeom prst="rect">
            <a:avLst/>
          </a:prstGeom>
          <a:noFill/>
        </p:spPr>
        <p:txBody>
          <a:bodyPr wrap="square" anchor="t" lIns="73152" rIns="73152" tIns="36576" bIns="36576">
            <a:spAutoFit/>
          </a:bodyPr>
          <a:lstStyle/>
          <a:p>
            <a:pPr algn="l">
              <a:spcAft>
                <a:spcPts val="600"/>
              </a:spcAft>
            </a:pPr>
            <a:r>
              <a:rPr sz="2000" b="1">
                <a:solidFill>
                  <a:srgbClr val="1F3864"/>
                </a:solidFill>
                <a:latin typeface="Calibri"/>
              </a:rPr>
              <a:t>Deploy</a:t>
            </a:r>
          </a:p>
        </p:txBody>
      </p:sp>
      <p:sp>
        <p:nvSpPr>
          <p:cNvPr id="23" name="TextBox 22"/>
          <p:cNvSpPr txBox="1"/>
          <p:nvPr/>
        </p:nvSpPr>
        <p:spPr>
          <a:xfrm>
            <a:off x="8138160" y="3017520"/>
            <a:ext cx="3611880" cy="3200400"/>
          </a:xfrm>
          <a:prstGeom prst="rect">
            <a:avLst/>
          </a:prstGeom>
          <a:noFill/>
        </p:spPr>
        <p:txBody>
          <a:bodyPr wrap="square" anchor="t" lIns="73152" rIns="73152" tIns="36576" bIns="36576">
            <a:spAutoFit/>
          </a:bodyPr>
          <a:lstStyle/>
          <a:p>
            <a:pPr algn="l" marL="274320" indent="-274320">
              <a:spcAft>
                <a:spcPts val="800"/>
              </a:spcAft>
              <a:buChar char="•"/>
            </a:pPr>
            <a:r>
              <a:rPr sz="1500" b="0">
                <a:solidFill>
                  <a:srgbClr val="404040"/>
                </a:solidFill>
                <a:latin typeface="Calibri"/>
              </a:rPr>
              <a:t>Short-lived OIDC credentials, no stored AWS key</a:t>
            </a:r>
          </a:p>
          <a:p>
            <a:pPr algn="l" marL="274320" indent="-274320">
              <a:spcAft>
                <a:spcPts val="800"/>
              </a:spcAft>
              <a:buChar char="•"/>
            </a:pPr>
            <a:r>
              <a:rPr sz="1500" b="0">
                <a:solidFill>
                  <a:srgbClr val="404040"/>
                </a:solidFill>
                <a:latin typeface="Calibri"/>
              </a:rPr>
              <a:t>Two roles: push to ECR, and send one command to the tagged host</a:t>
            </a:r>
          </a:p>
          <a:p>
            <a:pPr algn="l" marL="274320" indent="-274320">
              <a:spcAft>
                <a:spcPts val="800"/>
              </a:spcAft>
              <a:buChar char="•"/>
            </a:pPr>
            <a:r>
              <a:rPr sz="1500" b="0">
                <a:solidFill>
                  <a:srgbClr val="404040"/>
                </a:solidFill>
                <a:latin typeface="Calibri"/>
              </a:rPr>
              <a:t>Guard: the commit must still be the tip of main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Deployment on AWS: image and model delivery</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11</a:t>
            </a:r>
          </a:p>
        </p:txBody>
      </p:sp>
      <p:pic>
        <p:nvPicPr>
          <p:cNvPr id="7" name="Picture 6" descr="fig_deploy.png"/>
          <p:cNvPicPr>
            <a:picLocks noChangeAspect="1"/>
          </p:cNvPicPr>
          <p:nvPr/>
        </p:nvPicPr>
        <p:blipFill>
          <a:blip r:embed="rId3"/>
          <a:stretch>
            <a:fillRect/>
          </a:stretch>
        </p:blipFill>
        <p:spPr>
          <a:xfrm>
            <a:off x="457200" y="1280160"/>
            <a:ext cx="5669280" cy="4473539"/>
          </a:xfrm>
          <a:prstGeom prst="rect">
            <a:avLst/>
          </a:prstGeom>
        </p:spPr>
      </p:pic>
      <p:graphicFrame>
        <p:nvGraphicFramePr>
          <p:cNvPr id="8" name="Table 7"/>
          <p:cNvGraphicFramePr>
            <a:graphicFrameLocks noGrp="1"/>
          </p:cNvGraphicFramePr>
          <p:nvPr/>
        </p:nvGraphicFramePr>
        <p:xfrm>
          <a:off x="6400800" y="1280160"/>
          <a:ext cx="5349240" cy="3968496"/>
        </p:xfrm>
        <a:graphic>
          <a:graphicData uri="http://schemas.openxmlformats.org/drawingml/2006/table">
            <a:tbl>
              <a:tblPr firstRow="1" bandRow="1">
                <a:tableStyleId>{5C22544A-7EE6-4342-B048-85BDC9FD1C3A}</a:tableStyleId>
              </a:tblPr>
              <a:tblGrid>
                <a:gridCol w="1737360"/>
                <a:gridCol w="3611880"/>
              </a:tblGrid>
              <a:tr h="566928">
                <a:tc>
                  <a:txBody>
                    <a:bodyPr wrap="square"/>
                    <a:lstStyle/>
                    <a:p>
                      <a:r>
                        <a:rPr sz="1400" b="1">
                          <a:solidFill>
                            <a:srgbClr val="FFFFFF"/>
                          </a:solidFill>
                          <a:latin typeface="Calibri"/>
                        </a:rPr>
                        <a:t>AWS service</a:t>
                      </a:r>
                    </a:p>
                  </a:txBody>
                  <a:tcPr marL="54864" marR="54864" marT="27432" marB="27432" anchor="ctr">
                    <a:solidFill>
                      <a:srgbClr val="1F3864"/>
                    </a:solidFill>
                  </a:tcPr>
                </a:tc>
                <a:tc>
                  <a:txBody>
                    <a:bodyPr wrap="square"/>
                    <a:lstStyle/>
                    <a:p>
                      <a:r>
                        <a:rPr sz="1400" b="1">
                          <a:solidFill>
                            <a:srgbClr val="FFFFFF"/>
                          </a:solidFill>
                          <a:latin typeface="Calibri"/>
                        </a:rPr>
                        <a:t>Job</a:t>
                      </a:r>
                    </a:p>
                  </a:txBody>
                  <a:tcPr marL="54864" marR="54864" marT="27432" marB="27432" anchor="ctr">
                    <a:solidFill>
                      <a:srgbClr val="1F3864"/>
                    </a:solidFill>
                  </a:tcPr>
                </a:tc>
              </a:tr>
              <a:tr h="566928">
                <a:tc>
                  <a:txBody>
                    <a:bodyPr wrap="square"/>
                    <a:lstStyle/>
                    <a:p>
                      <a:r>
                        <a:rPr sz="1400">
                          <a:solidFill>
                            <a:srgbClr val="404040"/>
                          </a:solidFill>
                          <a:latin typeface="Calibri"/>
                        </a:rPr>
                        <a:t>S3</a:t>
                      </a:r>
                    </a:p>
                  </a:txBody>
                  <a:tcPr marL="54864" marR="54864" marT="27432" marB="27432" anchor="ctr">
                    <a:solidFill>
                      <a:srgbClr val="E8EEF7"/>
                    </a:solidFill>
                  </a:tcPr>
                </a:tc>
                <a:tc>
                  <a:txBody>
                    <a:bodyPr wrap="square"/>
                    <a:lstStyle/>
                    <a:p>
                      <a:r>
                        <a:rPr sz="1400">
                          <a:solidFill>
                            <a:srgbClr val="404040"/>
                          </a:solidFill>
                          <a:latin typeface="Calibri"/>
                        </a:rPr>
                        <a:t>DVC model storage (versioned)</a:t>
                      </a:r>
                    </a:p>
                  </a:txBody>
                  <a:tcPr marL="54864" marR="54864" marT="27432" marB="27432" anchor="ctr">
                    <a:solidFill>
                      <a:srgbClr val="E8EEF7"/>
                    </a:solidFill>
                  </a:tcPr>
                </a:tc>
              </a:tr>
              <a:tr h="566928">
                <a:tc>
                  <a:txBody>
                    <a:bodyPr wrap="square"/>
                    <a:lstStyle/>
                    <a:p>
                      <a:r>
                        <a:rPr sz="1400">
                          <a:solidFill>
                            <a:srgbClr val="404040"/>
                          </a:solidFill>
                          <a:latin typeface="Calibri"/>
                        </a:rPr>
                        <a:t>ECR</a:t>
                      </a:r>
                    </a:p>
                  </a:txBody>
                  <a:tcPr marL="54864" marR="54864" marT="27432" marB="27432" anchor="ctr">
                    <a:solidFill>
                      <a:srgbClr val="FFFFFF"/>
                    </a:solidFill>
                  </a:tcPr>
                </a:tc>
                <a:tc>
                  <a:txBody>
                    <a:bodyPr wrap="square"/>
                    <a:lstStyle/>
                    <a:p>
                      <a:r>
                        <a:rPr sz="1400">
                          <a:solidFill>
                            <a:srgbClr val="404040"/>
                          </a:solidFill>
                          <a:latin typeface="Calibri"/>
                        </a:rPr>
                        <a:t>Private images, immutable tags</a:t>
                      </a:r>
                    </a:p>
                  </a:txBody>
                  <a:tcPr marL="54864" marR="54864" marT="27432" marB="27432" anchor="ctr">
                    <a:solidFill>
                      <a:srgbClr val="FFFFFF"/>
                    </a:solidFill>
                  </a:tcPr>
                </a:tc>
              </a:tr>
              <a:tr h="566928">
                <a:tc>
                  <a:txBody>
                    <a:bodyPr wrap="square"/>
                    <a:lstStyle/>
                    <a:p>
                      <a:r>
                        <a:rPr sz="1400">
                          <a:solidFill>
                            <a:srgbClr val="404040"/>
                          </a:solidFill>
                          <a:latin typeface="Calibri"/>
                        </a:rPr>
                        <a:t>EC2</a:t>
                      </a:r>
                    </a:p>
                  </a:txBody>
                  <a:tcPr marL="54864" marR="54864" marT="27432" marB="27432" anchor="ctr">
                    <a:solidFill>
                      <a:srgbClr val="E8EEF7"/>
                    </a:solidFill>
                  </a:tcPr>
                </a:tc>
                <a:tc>
                  <a:txBody>
                    <a:bodyPr wrap="square"/>
                    <a:lstStyle/>
                    <a:p>
                      <a:r>
                        <a:rPr sz="1400">
                          <a:solidFill>
                            <a:srgbClr val="404040"/>
                          </a:solidFill>
                          <a:latin typeface="Calibri"/>
                        </a:rPr>
                        <a:t>m7i-flex.large, 8 GiB</a:t>
                      </a:r>
                    </a:p>
                  </a:txBody>
                  <a:tcPr marL="54864" marR="54864" marT="27432" marB="27432" anchor="ctr">
                    <a:solidFill>
                      <a:srgbClr val="E8EEF7"/>
                    </a:solidFill>
                  </a:tcPr>
                </a:tc>
              </a:tr>
              <a:tr h="566928">
                <a:tc>
                  <a:txBody>
                    <a:bodyPr wrap="square"/>
                    <a:lstStyle/>
                    <a:p>
                      <a:r>
                        <a:rPr sz="1400">
                          <a:solidFill>
                            <a:srgbClr val="404040"/>
                          </a:solidFill>
                          <a:latin typeface="Calibri"/>
                        </a:rPr>
                        <a:t>IAM + OIDC</a:t>
                      </a:r>
                    </a:p>
                  </a:txBody>
                  <a:tcPr marL="54864" marR="54864" marT="27432" marB="27432" anchor="ctr">
                    <a:solidFill>
                      <a:srgbClr val="FFFFFF"/>
                    </a:solidFill>
                  </a:tcPr>
                </a:tc>
                <a:tc>
                  <a:txBody>
                    <a:bodyPr wrap="square"/>
                    <a:lstStyle/>
                    <a:p>
                      <a:r>
                        <a:rPr sz="1400">
                          <a:solidFill>
                            <a:srgbClr val="404040"/>
                          </a:solidFill>
                          <a:latin typeface="Calibri"/>
                        </a:rPr>
                        <a:t>Keyless CI, least privilege</a:t>
                      </a:r>
                    </a:p>
                  </a:txBody>
                  <a:tcPr marL="54864" marR="54864" marT="27432" marB="27432" anchor="ctr">
                    <a:solidFill>
                      <a:srgbClr val="FFFFFF"/>
                    </a:solidFill>
                  </a:tcPr>
                </a:tc>
              </a:tr>
              <a:tr h="566928">
                <a:tc>
                  <a:txBody>
                    <a:bodyPr wrap="square"/>
                    <a:lstStyle/>
                    <a:p>
                      <a:r>
                        <a:rPr sz="1400">
                          <a:solidFill>
                            <a:srgbClr val="404040"/>
                          </a:solidFill>
                          <a:latin typeface="Calibri"/>
                        </a:rPr>
                        <a:t>Systems Manager</a:t>
                      </a:r>
                    </a:p>
                  </a:txBody>
                  <a:tcPr marL="54864" marR="54864" marT="27432" marB="27432" anchor="ctr">
                    <a:solidFill>
                      <a:srgbClr val="E8EEF7"/>
                    </a:solidFill>
                  </a:tcPr>
                </a:tc>
                <a:tc>
                  <a:txBody>
                    <a:bodyPr wrap="square"/>
                    <a:lstStyle/>
                    <a:p>
                      <a:r>
                        <a:rPr sz="1400">
                          <a:solidFill>
                            <a:srgbClr val="404040"/>
                          </a:solidFill>
                          <a:latin typeface="Calibri"/>
                        </a:rPr>
                        <a:t>Deploy and access, no SSH</a:t>
                      </a:r>
                    </a:p>
                  </a:txBody>
                  <a:tcPr marL="54864" marR="54864" marT="27432" marB="27432" anchor="ctr">
                    <a:solidFill>
                      <a:srgbClr val="E8EEF7"/>
                    </a:solidFill>
                  </a:tcPr>
                </a:tc>
              </a:tr>
              <a:tr h="566928">
                <a:tc>
                  <a:txBody>
                    <a:bodyPr wrap="square"/>
                    <a:lstStyle/>
                    <a:p>
                      <a:r>
                        <a:rPr sz="1400">
                          <a:solidFill>
                            <a:srgbClr val="404040"/>
                          </a:solidFill>
                          <a:latin typeface="Calibri"/>
                        </a:rPr>
                        <a:t>Elastic IP + SG</a:t>
                      </a:r>
                    </a:p>
                  </a:txBody>
                  <a:tcPr marL="54864" marR="54864" marT="27432" marB="27432" anchor="ctr">
                    <a:solidFill>
                      <a:srgbClr val="FFFFFF"/>
                    </a:solidFill>
                  </a:tcPr>
                </a:tc>
                <a:tc>
                  <a:txBody>
                    <a:bodyPr wrap="square"/>
                    <a:lstStyle/>
                    <a:p>
                      <a:r>
                        <a:rPr sz="1400">
                          <a:solidFill>
                            <a:srgbClr val="404040"/>
                          </a:solidFill>
                          <a:latin typeface="Calibri"/>
                        </a:rPr>
                        <a:t>Fixed address, ports 80/443 only</a:t>
                      </a:r>
                    </a:p>
                  </a:txBody>
                  <a:tcPr marL="54864" marR="54864" marT="27432" marB="27432" anchor="ctr">
                    <a:solidFill>
                      <a:srgbClr val="FFFFFF"/>
                    </a:solidFill>
                  </a:tcPr>
                </a:tc>
              </a:tr>
            </a:tbl>
          </a:graphicData>
        </a:graphic>
      </p:graphicFrame>
      <p:sp>
        <p:nvSpPr>
          <p:cNvPr id="9" name="TextBox 8"/>
          <p:cNvSpPr txBox="1"/>
          <p:nvPr/>
        </p:nvSpPr>
        <p:spPr>
          <a:xfrm>
            <a:off x="6400800" y="5486400"/>
            <a:ext cx="5349240" cy="822960"/>
          </a:xfrm>
          <a:prstGeom prst="rect">
            <a:avLst/>
          </a:prstGeom>
          <a:noFill/>
        </p:spPr>
        <p:txBody>
          <a:bodyPr wrap="square" anchor="t" lIns="73152" rIns="73152" tIns="36576" bIns="36576">
            <a:spAutoFit/>
          </a:bodyPr>
          <a:lstStyle/>
          <a:p>
            <a:pPr algn="l">
              <a:spcAft>
                <a:spcPts val="600"/>
              </a:spcAft>
            </a:pPr>
            <a:r>
              <a:rPr sz="1400" b="0">
                <a:solidFill>
                  <a:srgbClr val="595959"/>
                </a:solidFill>
                <a:latin typeface="Calibri"/>
              </a:rPr>
              <a:t>Region ap-south-1. The Free plan blocked t3.medium, so an eligible 8 GiB type was 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Deployment procedure and live verification</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12</a:t>
            </a:r>
          </a:p>
        </p:txBody>
      </p:sp>
      <p:sp>
        <p:nvSpPr>
          <p:cNvPr id="7" name="TextBox 6"/>
          <p:cNvSpPr txBox="1"/>
          <p:nvPr/>
        </p:nvSpPr>
        <p:spPr>
          <a:xfrm>
            <a:off x="548640" y="1188720"/>
            <a:ext cx="5669280" cy="457200"/>
          </a:xfrm>
          <a:prstGeom prst="rect">
            <a:avLst/>
          </a:prstGeom>
          <a:noFill/>
        </p:spPr>
        <p:txBody>
          <a:bodyPr wrap="square" anchor="t" lIns="73152" rIns="73152" tIns="36576" bIns="36576">
            <a:spAutoFit/>
          </a:bodyPr>
          <a:lstStyle/>
          <a:p>
            <a:pPr algn="l">
              <a:spcAft>
                <a:spcPts val="600"/>
              </a:spcAft>
            </a:pPr>
            <a:r>
              <a:rPr sz="2000" b="1">
                <a:solidFill>
                  <a:srgbClr val="1F3864"/>
                </a:solidFill>
                <a:latin typeface="Calibri"/>
              </a:rPr>
              <a:t>On the host, in order</a:t>
            </a:r>
          </a:p>
        </p:txBody>
      </p:sp>
      <p:sp>
        <p:nvSpPr>
          <p:cNvPr id="8" name="TextBox 7"/>
          <p:cNvSpPr txBox="1"/>
          <p:nvPr/>
        </p:nvSpPr>
        <p:spPr>
          <a:xfrm>
            <a:off x="548640" y="1691640"/>
            <a:ext cx="5669280" cy="4572000"/>
          </a:xfrm>
          <a:prstGeom prst="rect">
            <a:avLst/>
          </a:prstGeom>
          <a:noFill/>
        </p:spPr>
        <p:txBody>
          <a:bodyPr wrap="square" anchor="t" lIns="73152" rIns="73152" tIns="36576" bIns="36576">
            <a:spAutoFit/>
          </a:bodyPr>
          <a:lstStyle/>
          <a:p>
            <a:pPr algn="l">
              <a:spcAft>
                <a:spcPts val="900"/>
              </a:spcAft>
            </a:pPr>
            <a:r>
              <a:rPr sz="1700" b="0">
                <a:solidFill>
                  <a:srgbClr val="404040"/>
                </a:solidFill>
                <a:latin typeface="Calibri"/>
              </a:rPr>
              <a:t>1. Stop the API and web containers</a:t>
            </a:r>
          </a:p>
          <a:p>
            <a:pPr algn="l">
              <a:spcAft>
                <a:spcPts val="900"/>
              </a:spcAft>
            </a:pPr>
            <a:r>
              <a:rPr sz="1700" b="0">
                <a:solidFill>
                  <a:srgbClr val="404040"/>
                </a:solidFill>
                <a:latin typeface="Calibri"/>
              </a:rPr>
              <a:t>2. Pull both images from ECR</a:t>
            </a:r>
          </a:p>
          <a:p>
            <a:pPr algn="l">
              <a:spcAft>
                <a:spcPts val="900"/>
              </a:spcAft>
            </a:pPr>
            <a:r>
              <a:rPr sz="1700" b="0">
                <a:solidFill>
                  <a:srgbClr val="404040"/>
                </a:solidFill>
                <a:latin typeface="Calibri"/>
              </a:rPr>
              <a:t>3. Pull the model bundle from S3 with DVC</a:t>
            </a:r>
          </a:p>
          <a:p>
            <a:pPr algn="l">
              <a:spcAft>
                <a:spcPts val="900"/>
              </a:spcAft>
            </a:pPr>
            <a:r>
              <a:rPr sz="1700" b="0">
                <a:solidFill>
                  <a:srgbClr val="404040"/>
                </a:solidFill>
                <a:latin typeface="Calibri"/>
              </a:rPr>
              <a:t>4. Test inference inside the published image</a:t>
            </a:r>
          </a:p>
          <a:p>
            <a:pPr algn="l">
              <a:spcAft>
                <a:spcPts val="900"/>
              </a:spcAft>
            </a:pPr>
            <a:r>
              <a:rPr sz="1700" b="0">
                <a:solidFill>
                  <a:srgbClr val="404040"/>
                </a:solidFill>
                <a:latin typeface="Calibri"/>
              </a:rPr>
              <a:t>5. Start PostgreSQL, MLflow, then API (migrations first) and web</a:t>
            </a:r>
          </a:p>
          <a:p>
            <a:pPr algn="l">
              <a:spcAft>
                <a:spcPts val="900"/>
              </a:spcAft>
            </a:pPr>
            <a:r>
              <a:rPr sz="1700" b="0">
                <a:solidFill>
                  <a:srgbClr val="404040"/>
                </a:solidFill>
                <a:latin typeface="Calibri"/>
              </a:rPr>
              <a:t>6. Compare the running bundle ID with the manifest</a:t>
            </a:r>
          </a:p>
        </p:txBody>
      </p:sp>
      <p:graphicFrame>
        <p:nvGraphicFramePr>
          <p:cNvPr id="9" name="Table 8"/>
          <p:cNvGraphicFramePr>
            <a:graphicFrameLocks noGrp="1"/>
          </p:cNvGraphicFramePr>
          <p:nvPr/>
        </p:nvGraphicFramePr>
        <p:xfrm>
          <a:off x="6492240" y="1280160"/>
          <a:ext cx="5257800" cy="3840480"/>
        </p:xfrm>
        <a:graphic>
          <a:graphicData uri="http://schemas.openxmlformats.org/drawingml/2006/table">
            <a:tbl>
              <a:tblPr firstRow="1" bandRow="1">
                <a:tableStyleId>{5C22544A-7EE6-4342-B048-85BDC9FD1C3A}</a:tableStyleId>
              </a:tblPr>
              <a:tblGrid>
                <a:gridCol w="2194560"/>
                <a:gridCol w="3063240"/>
              </a:tblGrid>
              <a:tr h="548640">
                <a:tc>
                  <a:txBody>
                    <a:bodyPr wrap="square"/>
                    <a:lstStyle/>
                    <a:p>
                      <a:r>
                        <a:rPr sz="1400" b="1">
                          <a:solidFill>
                            <a:srgbClr val="FFFFFF"/>
                          </a:solidFill>
                          <a:latin typeface="Calibri"/>
                        </a:rPr>
                        <a:t>Live check</a:t>
                      </a:r>
                    </a:p>
                  </a:txBody>
                  <a:tcPr marL="54864" marR="54864" marT="27432" marB="27432" anchor="ctr">
                    <a:solidFill>
                      <a:srgbClr val="1F3864"/>
                    </a:solidFill>
                  </a:tcPr>
                </a:tc>
                <a:tc>
                  <a:txBody>
                    <a:bodyPr wrap="square"/>
                    <a:lstStyle/>
                    <a:p>
                      <a:r>
                        <a:rPr sz="1400" b="1">
                          <a:solidFill>
                            <a:srgbClr val="FFFFFF"/>
                          </a:solidFill>
                          <a:latin typeface="Calibri"/>
                        </a:rPr>
                        <a:t>Result</a:t>
                      </a:r>
                    </a:p>
                  </a:txBody>
                  <a:tcPr marL="54864" marR="54864" marT="27432" marB="27432" anchor="ctr">
                    <a:solidFill>
                      <a:srgbClr val="1F3864"/>
                    </a:solidFill>
                  </a:tcPr>
                </a:tc>
              </a:tr>
              <a:tr h="548640">
                <a:tc>
                  <a:txBody>
                    <a:bodyPr wrap="square"/>
                    <a:lstStyle/>
                    <a:p>
                      <a:r>
                        <a:rPr sz="1400">
                          <a:solidFill>
                            <a:srgbClr val="404040"/>
                          </a:solidFill>
                          <a:latin typeface="Calibri"/>
                        </a:rPr>
                        <a:t>GET /ready</a:t>
                      </a:r>
                    </a:p>
                  </a:txBody>
                  <a:tcPr marL="54864" marR="54864" marT="27432" marB="27432" anchor="ctr">
                    <a:solidFill>
                      <a:srgbClr val="E8EEF7"/>
                    </a:solidFill>
                  </a:tcPr>
                </a:tc>
                <a:tc>
                  <a:txBody>
                    <a:bodyPr wrap="square"/>
                    <a:lstStyle/>
                    <a:p>
                      <a:r>
                        <a:rPr sz="1400">
                          <a:solidFill>
                            <a:srgbClr val="404040"/>
                          </a:solidFill>
                          <a:latin typeface="Calibri"/>
                        </a:rPr>
                        <a:t>ready, bundle ded4d86e...</a:t>
                      </a:r>
                    </a:p>
                  </a:txBody>
                  <a:tcPr marL="54864" marR="54864" marT="27432" marB="27432" anchor="ctr">
                    <a:solidFill>
                      <a:srgbClr val="E8EEF7"/>
                    </a:solidFill>
                  </a:tcPr>
                </a:tc>
              </a:tr>
              <a:tr h="548640">
                <a:tc>
                  <a:txBody>
                    <a:bodyPr wrap="square"/>
                    <a:lstStyle/>
                    <a:p>
                      <a:r>
                        <a:rPr sz="1400">
                          <a:solidFill>
                            <a:srgbClr val="404040"/>
                          </a:solidFill>
                          <a:latin typeface="Calibri"/>
                        </a:rPr>
                        <a:t>No token</a:t>
                      </a:r>
                    </a:p>
                  </a:txBody>
                  <a:tcPr marL="54864" marR="54864" marT="27432" marB="27432" anchor="ctr">
                    <a:solidFill>
                      <a:srgbClr val="FFFFFF"/>
                    </a:solidFill>
                  </a:tcPr>
                </a:tc>
                <a:tc>
                  <a:txBody>
                    <a:bodyPr wrap="square"/>
                    <a:lstStyle/>
                    <a:p>
                      <a:r>
                        <a:rPr sz="1400">
                          <a:solidFill>
                            <a:srgbClr val="404040"/>
                          </a:solidFill>
                          <a:latin typeface="Calibri"/>
                        </a:rPr>
                        <a:t>HTTP 401</a:t>
                      </a:r>
                    </a:p>
                  </a:txBody>
                  <a:tcPr marL="54864" marR="54864" marT="27432" marB="27432" anchor="ctr">
                    <a:solidFill>
                      <a:srgbClr val="FFFFFF"/>
                    </a:solidFill>
                  </a:tcPr>
                </a:tc>
              </a:tr>
              <a:tr h="548640">
                <a:tc>
                  <a:txBody>
                    <a:bodyPr wrap="square"/>
                    <a:lstStyle/>
                    <a:p>
                      <a:r>
                        <a:rPr sz="1400">
                          <a:solidFill>
                            <a:srgbClr val="404040"/>
                          </a:solidFill>
                          <a:latin typeface="Calibri"/>
                        </a:rPr>
                        <a:t>With token</a:t>
                      </a:r>
                    </a:p>
                  </a:txBody>
                  <a:tcPr marL="54864" marR="54864" marT="27432" marB="27432" anchor="ctr">
                    <a:solidFill>
                      <a:srgbClr val="E8EEF7"/>
                    </a:solidFill>
                  </a:tcPr>
                </a:tc>
                <a:tc>
                  <a:txBody>
                    <a:bodyPr wrap="square"/>
                    <a:lstStyle/>
                    <a:p>
                      <a:r>
                        <a:rPr sz="1400">
                          <a:solidFill>
                            <a:srgbClr val="404040"/>
                          </a:solidFill>
                          <a:latin typeface="Calibri"/>
                        </a:rPr>
                        <a:t>5 ranked jobs, no fallback</a:t>
                      </a:r>
                    </a:p>
                  </a:txBody>
                  <a:tcPr marL="54864" marR="54864" marT="27432" marB="27432" anchor="ctr">
                    <a:solidFill>
                      <a:srgbClr val="E8EEF7"/>
                    </a:solidFill>
                  </a:tcPr>
                </a:tc>
              </a:tr>
              <a:tr h="548640">
                <a:tc>
                  <a:txBody>
                    <a:bodyPr wrap="square"/>
                    <a:lstStyle/>
                    <a:p>
                      <a:r>
                        <a:rPr sz="1400">
                          <a:solidFill>
                            <a:srgbClr val="404040"/>
                          </a:solidFill>
                          <a:latin typeface="Calibri"/>
                        </a:rPr>
                        <a:t>Foreign origin (CORS)</a:t>
                      </a:r>
                    </a:p>
                  </a:txBody>
                  <a:tcPr marL="54864" marR="54864" marT="27432" marB="27432" anchor="ctr">
                    <a:solidFill>
                      <a:srgbClr val="FFFFFF"/>
                    </a:solidFill>
                  </a:tcPr>
                </a:tc>
                <a:tc>
                  <a:txBody>
                    <a:bodyPr wrap="square"/>
                    <a:lstStyle/>
                    <a:p>
                      <a:r>
                        <a:rPr sz="1400">
                          <a:solidFill>
                            <a:srgbClr val="404040"/>
                          </a:solidFill>
                          <a:latin typeface="Calibri"/>
                        </a:rPr>
                        <a:t>Refused</a:t>
                      </a:r>
                    </a:p>
                  </a:txBody>
                  <a:tcPr marL="54864" marR="54864" marT="27432" marB="27432" anchor="ctr">
                    <a:solidFill>
                      <a:srgbClr val="FFFFFF"/>
                    </a:solidFill>
                  </a:tcPr>
                </a:tc>
              </a:tr>
              <a:tr h="548640">
                <a:tc>
                  <a:txBody>
                    <a:bodyPr wrap="square"/>
                    <a:lstStyle/>
                    <a:p>
                      <a:r>
                        <a:rPr sz="1400">
                          <a:solidFill>
                            <a:srgbClr val="404040"/>
                          </a:solidFill>
                          <a:latin typeface="Calibri"/>
                        </a:rPr>
                        <a:t>Certificate</a:t>
                      </a:r>
                    </a:p>
                  </a:txBody>
                  <a:tcPr marL="54864" marR="54864" marT="27432" marB="27432" anchor="ctr">
                    <a:solidFill>
                      <a:srgbClr val="E8EEF7"/>
                    </a:solidFill>
                  </a:tcPr>
                </a:tc>
                <a:tc>
                  <a:txBody>
                    <a:bodyPr wrap="square"/>
                    <a:lstStyle/>
                    <a:p>
                      <a:r>
                        <a:rPr sz="1400">
                          <a:solidFill>
                            <a:srgbClr val="404040"/>
                          </a:solidFill>
                          <a:latin typeface="Calibri"/>
                        </a:rPr>
                        <a:t>Let's Encrypt, valid</a:t>
                      </a:r>
                    </a:p>
                  </a:txBody>
                  <a:tcPr marL="54864" marR="54864" marT="27432" marB="27432" anchor="ctr">
                    <a:solidFill>
                      <a:srgbClr val="E8EEF7"/>
                    </a:solidFill>
                  </a:tcPr>
                </a:tc>
              </a:tr>
              <a:tr h="548640">
                <a:tc>
                  <a:txBody>
                    <a:bodyPr wrap="square"/>
                    <a:lstStyle/>
                    <a:p>
                      <a:r>
                        <a:rPr sz="1400">
                          <a:solidFill>
                            <a:srgbClr val="404040"/>
                          </a:solidFill>
                          <a:latin typeface="Calibri"/>
                        </a:rPr>
                        <a:t>Jobs stored</a:t>
                      </a:r>
                    </a:p>
                  </a:txBody>
                  <a:tcPr marL="54864" marR="54864" marT="27432" marB="27432" anchor="ctr">
                    <a:solidFill>
                      <a:srgbClr val="FFFFFF"/>
                    </a:solidFill>
                  </a:tcPr>
                </a:tc>
                <a:tc>
                  <a:txBody>
                    <a:bodyPr wrap="square"/>
                    <a:lstStyle/>
                    <a:p>
                      <a:r>
                        <a:rPr sz="1400">
                          <a:solidFill>
                            <a:srgbClr val="404040"/>
                          </a:solidFill>
                          <a:latin typeface="Calibri"/>
                        </a:rPr>
                        <a:t>1,045 after 7 duplicates</a:t>
                      </a:r>
                    </a:p>
                  </a:txBody>
                  <a:tcPr marL="54864" marR="54864"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Monitoring and reliability</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13</a:t>
            </a:r>
          </a:p>
        </p:txBody>
      </p:sp>
      <p:sp>
        <p:nvSpPr>
          <p:cNvPr id="7" name="TextBox 6"/>
          <p:cNvSpPr txBox="1"/>
          <p:nvPr/>
        </p:nvSpPr>
        <p:spPr>
          <a:xfrm>
            <a:off x="548640" y="1280160"/>
            <a:ext cx="6035040" cy="4937760"/>
          </a:xfrm>
          <a:prstGeom prst="rect">
            <a:avLst/>
          </a:prstGeom>
          <a:noFill/>
        </p:spPr>
        <p:txBody>
          <a:bodyPr wrap="square" anchor="t" lIns="73152" rIns="73152" tIns="36576" bIns="36576">
            <a:spAutoFit/>
          </a:bodyPr>
          <a:lstStyle/>
          <a:p>
            <a:pPr algn="l" marL="274320" indent="-274320">
              <a:spcAft>
                <a:spcPts val="1000"/>
              </a:spcAft>
              <a:buChar char="•"/>
            </a:pPr>
            <a:r>
              <a:rPr sz="1700" b="0">
                <a:solidFill>
                  <a:srgbClr val="404040"/>
                </a:solidFill>
                <a:latin typeface="Calibri"/>
              </a:rPr>
              <a:t>Metrics: request count and duration, inference time, ingestion runs, duplicates detected.</a:t>
            </a:r>
          </a:p>
          <a:p>
            <a:pPr algn="l" marL="274320" indent="-274320">
              <a:spcAft>
                <a:spcPts val="1000"/>
              </a:spcAft>
              <a:buChar char="•"/>
            </a:pPr>
            <a:r>
              <a:rPr sz="1700" b="0">
                <a:solidFill>
                  <a:srgbClr val="404040"/>
                </a:solidFill>
                <a:latin typeface="Calibri"/>
              </a:rPr>
              <a:t>Four alert rules: API unreachable, repeated readiness failures, sustained server errors, failed or partial ingestion. Tested in CI.</a:t>
            </a:r>
          </a:p>
          <a:p>
            <a:pPr algn="l" marL="274320" indent="-274320">
              <a:spcAft>
                <a:spcPts val="1000"/>
              </a:spcAft>
              <a:buChar char="•"/>
            </a:pPr>
            <a:r>
              <a:rPr sz="1700" b="0">
                <a:solidFill>
                  <a:srgbClr val="404040"/>
                </a:solidFill>
                <a:latin typeface="Calibri"/>
              </a:rPr>
              <a:t>Health checks: /health and /ready, used by Docker Compose.</a:t>
            </a:r>
          </a:p>
          <a:p>
            <a:pPr algn="l" marL="274320" indent="-274320">
              <a:spcAft>
                <a:spcPts val="1000"/>
              </a:spcAft>
              <a:buChar char="•"/>
            </a:pPr>
            <a:r>
              <a:rPr sz="1700" b="0">
                <a:solidFill>
                  <a:srgbClr val="404040"/>
                </a:solidFill>
                <a:latin typeface="Calibri"/>
              </a:rPr>
              <a:t>Restart policy unless-stopped on every container; Docker starts at boot.</a:t>
            </a:r>
          </a:p>
          <a:p>
            <a:pPr algn="l" marL="274320" indent="-274320">
              <a:spcAft>
                <a:spcPts val="1000"/>
              </a:spcAft>
              <a:buChar char="•"/>
            </a:pPr>
            <a:r>
              <a:rPr sz="1700" b="0">
                <a:solidFill>
                  <a:srgbClr val="404040"/>
                </a:solidFill>
                <a:latin typeface="Calibri"/>
              </a:rPr>
              <a:t>Not built: alert delivery, drift detection, host metrics.</a:t>
            </a:r>
          </a:p>
        </p:txBody>
      </p:sp>
      <p:sp>
        <p:nvSpPr>
          <p:cNvPr id="8" name="Rounded Rectangle 7"/>
          <p:cNvSpPr/>
          <p:nvPr/>
        </p:nvSpPr>
        <p:spPr>
          <a:xfrm>
            <a:off x="6949440" y="1371600"/>
            <a:ext cx="4754880" cy="2286000"/>
          </a:xfrm>
          <a:prstGeom prst="roundRect">
            <a:avLst/>
          </a:prstGeom>
          <a:solidFill>
            <a:srgbClr val="E2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3800" b="1">
                <a:solidFill>
                  <a:srgbClr val="0B5D3B"/>
                </a:solidFill>
                <a:latin typeface="Calibri"/>
              </a:rPr>
              <a:t>About 4 s</a:t>
            </a:r>
          </a:p>
          <a:p>
            <a:pPr algn="ctr"/>
            <a:r>
              <a:rPr sz="1600">
                <a:solidFill>
                  <a:srgbClr val="0B5D3B"/>
                </a:solidFill>
                <a:latin typeface="Calibri"/>
              </a:rPr>
              <a:t>API recovered after its server process was killed (restart count 1)</a:t>
            </a:r>
          </a:p>
        </p:txBody>
      </p:sp>
      <p:sp>
        <p:nvSpPr>
          <p:cNvPr id="9" name="Rounded Rectangle 8"/>
          <p:cNvSpPr/>
          <p:nvPr/>
        </p:nvSpPr>
        <p:spPr>
          <a:xfrm>
            <a:off x="6949440" y="3931920"/>
            <a:ext cx="4754880" cy="20116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a:solidFill>
                  <a:srgbClr val="9C1C1C"/>
                </a:solidFill>
                <a:latin typeface="Calibri"/>
              </a:rPr>
              <a:t>Lesson</a:t>
            </a:r>
          </a:p>
          <a:p>
            <a:pPr algn="ctr"/>
            <a:r>
              <a:rPr sz="1600">
                <a:solidFill>
                  <a:srgbClr val="9C1C1C"/>
                </a:solidFill>
                <a:latin typeface="Calibri"/>
              </a:rPr>
              <a:t>docker kill counts as a manual stop and the container stays down, so crash tests must kill the process inside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Results at a glance</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14</a:t>
            </a:r>
          </a:p>
        </p:txBody>
      </p:sp>
      <p:sp>
        <p:nvSpPr>
          <p:cNvPr id="7" name="Rounded Rectangle 6"/>
          <p:cNvSpPr/>
          <p:nvPr/>
        </p:nvSpPr>
        <p:spPr>
          <a:xfrm>
            <a:off x="548640" y="1371600"/>
            <a:ext cx="3566160" cy="2011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4000" b="1">
                <a:solidFill>
                  <a:srgbClr val="1F3864"/>
                </a:solidFill>
                <a:latin typeface="Calibri"/>
              </a:rPr>
              <a:t>1,052</a:t>
            </a:r>
          </a:p>
          <a:p>
            <a:pPr algn="ctr"/>
            <a:r>
              <a:rPr sz="1500">
                <a:solidFill>
                  <a:srgbClr val="1F3864"/>
                </a:solidFill>
                <a:latin typeface="Calibri"/>
              </a:rPr>
              <a:t>postings loaded live (714 Greenhouse, 306 Lever, 32 Ashby)</a:t>
            </a:r>
          </a:p>
        </p:txBody>
      </p:sp>
      <p:sp>
        <p:nvSpPr>
          <p:cNvPr id="8" name="Rounded Rectangle 7"/>
          <p:cNvSpPr/>
          <p:nvPr/>
        </p:nvSpPr>
        <p:spPr>
          <a:xfrm>
            <a:off x="4343400" y="1371600"/>
            <a:ext cx="3566160" cy="20116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4000" b="1">
                <a:solidFill>
                  <a:srgbClr val="9C1C1C"/>
                </a:solidFill>
                <a:latin typeface="Calibri"/>
              </a:rPr>
              <a:t>12</a:t>
            </a:r>
          </a:p>
          <a:p>
            <a:pPr algn="ctr"/>
            <a:r>
              <a:rPr sz="1500">
                <a:solidFill>
                  <a:srgbClr val="9C1C1C"/>
                </a:solidFill>
                <a:latin typeface="Calibri"/>
              </a:rPr>
              <a:t>MLflow runs; registry v4 is production</a:t>
            </a:r>
          </a:p>
        </p:txBody>
      </p:sp>
      <p:sp>
        <p:nvSpPr>
          <p:cNvPr id="9" name="Rounded Rectangle 8"/>
          <p:cNvSpPr/>
          <p:nvPr/>
        </p:nvSpPr>
        <p:spPr>
          <a:xfrm>
            <a:off x="8138160" y="1371600"/>
            <a:ext cx="3566160" cy="2011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4000" b="1">
                <a:solidFill>
                  <a:srgbClr val="1F3864"/>
                </a:solidFill>
                <a:latin typeface="Calibri"/>
              </a:rPr>
              <a:t>7</a:t>
            </a:r>
          </a:p>
          <a:p>
            <a:pPr algn="ctr"/>
            <a:r>
              <a:rPr sz="1500">
                <a:solidFill>
                  <a:srgbClr val="1F3864"/>
                </a:solidFill>
                <a:latin typeface="Calibri"/>
              </a:rPr>
              <a:t>DVC stages, 21 objects (92.6 MB) in S3</a:t>
            </a:r>
          </a:p>
        </p:txBody>
      </p:sp>
      <p:sp>
        <p:nvSpPr>
          <p:cNvPr id="10" name="Rounded Rectangle 9"/>
          <p:cNvSpPr/>
          <p:nvPr/>
        </p:nvSpPr>
        <p:spPr>
          <a:xfrm>
            <a:off x="548640" y="3611880"/>
            <a:ext cx="3566160" cy="20116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4000" b="1">
                <a:solidFill>
                  <a:srgbClr val="9C1C1C"/>
                </a:solidFill>
                <a:latin typeface="Calibri"/>
              </a:rPr>
              <a:t>5 / 5</a:t>
            </a:r>
          </a:p>
          <a:p>
            <a:pPr algn="ctr"/>
            <a:r>
              <a:rPr sz="1500">
                <a:solidFill>
                  <a:srgbClr val="9C1C1C"/>
                </a:solidFill>
                <a:latin typeface="Calibri"/>
              </a:rPr>
              <a:t>pipeline jobs passed on the final run</a:t>
            </a:r>
          </a:p>
        </p:txBody>
      </p:sp>
      <p:sp>
        <p:nvSpPr>
          <p:cNvPr id="11" name="Rounded Rectangle 10"/>
          <p:cNvSpPr/>
          <p:nvPr/>
        </p:nvSpPr>
        <p:spPr>
          <a:xfrm>
            <a:off x="4343400" y="3611880"/>
            <a:ext cx="3566160" cy="20116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4000" b="1">
                <a:solidFill>
                  <a:srgbClr val="1F3864"/>
                </a:solidFill>
                <a:latin typeface="Calibri"/>
              </a:rPr>
              <a:t>~4 s</a:t>
            </a:r>
          </a:p>
          <a:p>
            <a:pPr algn="ctr"/>
            <a:r>
              <a:rPr sz="1500">
                <a:solidFill>
                  <a:srgbClr val="1F3864"/>
                </a:solidFill>
                <a:latin typeface="Calibri"/>
              </a:rPr>
              <a:t>crash recovery by the restart policy</a:t>
            </a:r>
          </a:p>
        </p:txBody>
      </p:sp>
      <p:sp>
        <p:nvSpPr>
          <p:cNvPr id="12" name="Rounded Rectangle 11"/>
          <p:cNvSpPr/>
          <p:nvPr/>
        </p:nvSpPr>
        <p:spPr>
          <a:xfrm>
            <a:off x="8138160" y="3611880"/>
            <a:ext cx="3566160" cy="2011680"/>
          </a:xfrm>
          <a:prstGeom prst="roundRect">
            <a:avLst/>
          </a:prstGeom>
          <a:solidFill>
            <a:srgbClr val="F9E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4000" b="1">
                <a:solidFill>
                  <a:srgbClr val="9C1C1C"/>
                </a:solidFill>
                <a:latin typeface="Calibri"/>
              </a:rPr>
              <a:t>0</a:t>
            </a:r>
          </a:p>
          <a:p>
            <a:pPr algn="ctr"/>
            <a:r>
              <a:rPr sz="1500">
                <a:solidFill>
                  <a:srgbClr val="9C1C1C"/>
                </a:solidFill>
                <a:latin typeface="Calibri"/>
              </a:rPr>
              <a:t>AWS keys stored in GitHub or on the server</a:t>
            </a:r>
          </a:p>
        </p:txBody>
      </p:sp>
      <p:sp>
        <p:nvSpPr>
          <p:cNvPr id="13" name="TextBox 12"/>
          <p:cNvSpPr txBox="1"/>
          <p:nvPr/>
        </p:nvSpPr>
        <p:spPr>
          <a:xfrm>
            <a:off x="548640" y="5897880"/>
            <a:ext cx="11064240" cy="502920"/>
          </a:xfrm>
          <a:prstGeom prst="rect">
            <a:avLst/>
          </a:prstGeom>
          <a:noFill/>
        </p:spPr>
        <p:txBody>
          <a:bodyPr wrap="square" anchor="t" lIns="73152" rIns="73152" tIns="36576" bIns="36576">
            <a:spAutoFit/>
          </a:bodyPr>
          <a:lstStyle/>
          <a:p>
            <a:pPr algn="l">
              <a:spcAft>
                <a:spcPts val="600"/>
              </a:spcAft>
            </a:pPr>
            <a:r>
              <a:rPr sz="1400" b="0">
                <a:solidFill>
                  <a:srgbClr val="595959"/>
                </a:solidFill>
                <a:latin typeface="Calibri"/>
              </a:rPr>
              <a:t>Ranking metrics use a six-query benchmark with illustrative labels: evidence that the pipeline works, not of ranking accuracy.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Problems met and how they were solved</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15</a:t>
            </a:r>
          </a:p>
        </p:txBody>
      </p:sp>
      <p:graphicFrame>
        <p:nvGraphicFramePr>
          <p:cNvPr id="7" name="Table 6"/>
          <p:cNvGraphicFramePr>
            <a:graphicFrameLocks noGrp="1"/>
          </p:cNvGraphicFramePr>
          <p:nvPr/>
        </p:nvGraphicFramePr>
        <p:xfrm>
          <a:off x="548640" y="1280160"/>
          <a:ext cx="11155680" cy="4389120"/>
        </p:xfrm>
        <a:graphic>
          <a:graphicData uri="http://schemas.openxmlformats.org/drawingml/2006/table">
            <a:tbl>
              <a:tblPr firstRow="1" bandRow="1">
                <a:tableStyleId>{5C22544A-7EE6-4342-B048-85BDC9FD1C3A}</a:tableStyleId>
              </a:tblPr>
              <a:tblGrid>
                <a:gridCol w="4572000"/>
                <a:gridCol w="6583680"/>
              </a:tblGrid>
              <a:tr h="731520">
                <a:tc>
                  <a:txBody>
                    <a:bodyPr wrap="square"/>
                    <a:lstStyle/>
                    <a:p>
                      <a:r>
                        <a:rPr sz="1500" b="1">
                          <a:solidFill>
                            <a:srgbClr val="FFFFFF"/>
                          </a:solidFill>
                          <a:latin typeface="Calibri"/>
                        </a:rPr>
                        <a:t>Problem</a:t>
                      </a:r>
                    </a:p>
                  </a:txBody>
                  <a:tcPr marL="54864" marR="54864" marT="27432" marB="27432" anchor="ctr">
                    <a:solidFill>
                      <a:srgbClr val="1F3864"/>
                    </a:solidFill>
                  </a:tcPr>
                </a:tc>
                <a:tc>
                  <a:txBody>
                    <a:bodyPr wrap="square"/>
                    <a:lstStyle/>
                    <a:p>
                      <a:r>
                        <a:rPr sz="1500" b="1">
                          <a:solidFill>
                            <a:srgbClr val="FFFFFF"/>
                          </a:solidFill>
                          <a:latin typeface="Calibri"/>
                        </a:rPr>
                        <a:t>Fix</a:t>
                      </a:r>
                    </a:p>
                  </a:txBody>
                  <a:tcPr marL="54864" marR="54864" marT="27432" marB="27432" anchor="ctr">
                    <a:solidFill>
                      <a:srgbClr val="1F3864"/>
                    </a:solidFill>
                  </a:tcPr>
                </a:tc>
              </a:tr>
              <a:tr h="731520">
                <a:tc>
                  <a:txBody>
                    <a:bodyPr wrap="square"/>
                    <a:lstStyle/>
                    <a:p>
                      <a:r>
                        <a:rPr sz="1500">
                          <a:solidFill>
                            <a:srgbClr val="404040"/>
                          </a:solidFill>
                          <a:latin typeface="Calibri"/>
                        </a:rPr>
                        <a:t>Production refused a plain HTTP address</a:t>
                      </a:r>
                    </a:p>
                  </a:txBody>
                  <a:tcPr marL="54864" marR="54864" marT="27432" marB="27432" anchor="ctr">
                    <a:solidFill>
                      <a:srgbClr val="E8EEF7"/>
                    </a:solidFill>
                  </a:tcPr>
                </a:tc>
                <a:tc>
                  <a:txBody>
                    <a:bodyPr wrap="square"/>
                    <a:lstStyle/>
                    <a:p>
                      <a:r>
                        <a:rPr sz="1500">
                          <a:solidFill>
                            <a:srgbClr val="404040"/>
                          </a:solidFill>
                          <a:latin typeface="Calibri"/>
                        </a:rPr>
                        <a:t>Kept the safety check; served over HTTPS on an IP-derived hostname</a:t>
                      </a:r>
                    </a:p>
                  </a:txBody>
                  <a:tcPr marL="54864" marR="54864" marT="27432" marB="27432" anchor="ctr">
                    <a:solidFill>
                      <a:srgbClr val="E8EEF7"/>
                    </a:solidFill>
                  </a:tcPr>
                </a:tc>
              </a:tr>
              <a:tr h="731520">
                <a:tc>
                  <a:txBody>
                    <a:bodyPr wrap="square"/>
                    <a:lstStyle/>
                    <a:p>
                      <a:r>
                        <a:rPr sz="1500">
                          <a:solidFill>
                            <a:srgbClr val="404040"/>
                          </a:solidFill>
                          <a:latin typeface="Calibri"/>
                        </a:rPr>
                        <a:t>GitHub could not log in to AWS (OIDC)</a:t>
                      </a:r>
                    </a:p>
                  </a:txBody>
                  <a:tcPr marL="54864" marR="54864" marT="27432" marB="27432" anchor="ctr">
                    <a:solidFill>
                      <a:srgbClr val="FFFFFF"/>
                    </a:solidFill>
                  </a:tcPr>
                </a:tc>
                <a:tc>
                  <a:txBody>
                    <a:bodyPr wrap="square"/>
                    <a:lstStyle/>
                    <a:p>
                      <a:r>
                        <a:rPr sz="1500">
                          <a:solidFill>
                            <a:srgbClr val="404040"/>
                          </a:solidFill>
                          <a:latin typeface="Calibri"/>
                        </a:rPr>
                        <a:t>Trust policy now accepts GitHub's repository-ID subject format too</a:t>
                      </a:r>
                    </a:p>
                  </a:txBody>
                  <a:tcPr marL="54864" marR="54864" marT="27432" marB="27432" anchor="ctr">
                    <a:solidFill>
                      <a:srgbClr val="FFFFFF"/>
                    </a:solidFill>
                  </a:tcPr>
                </a:tc>
              </a:tr>
              <a:tr h="731520">
                <a:tc>
                  <a:txBody>
                    <a:bodyPr wrap="square"/>
                    <a:lstStyle/>
                    <a:p>
                      <a:r>
                        <a:rPr sz="1500">
                          <a:solidFill>
                            <a:srgbClr val="404040"/>
                          </a:solidFill>
                          <a:latin typeface="Calibri"/>
                        </a:rPr>
                        <a:t>Pushes did not start CI on the fork</a:t>
                      </a:r>
                    </a:p>
                  </a:txBody>
                  <a:tcPr marL="54864" marR="54864" marT="27432" marB="27432" anchor="ctr">
                    <a:solidFill>
                      <a:srgbClr val="E8EEF7"/>
                    </a:solidFill>
                  </a:tcPr>
                </a:tc>
                <a:tc>
                  <a:txBody>
                    <a:bodyPr wrap="square"/>
                    <a:lstStyle/>
                    <a:p>
                      <a:r>
                        <a:rPr sz="1500">
                          <a:solidFill>
                            <a:srgbClr val="404040"/>
                          </a:solidFill>
                          <a:latin typeface="Calibri"/>
                        </a:rPr>
                        <a:t>Set the repository's Actions permission explicitly through the API</a:t>
                      </a:r>
                    </a:p>
                  </a:txBody>
                  <a:tcPr marL="54864" marR="54864" marT="27432" marB="27432" anchor="ctr">
                    <a:solidFill>
                      <a:srgbClr val="E8EEF7"/>
                    </a:solidFill>
                  </a:tcPr>
                </a:tc>
              </a:tr>
              <a:tr h="731520">
                <a:tc>
                  <a:txBody>
                    <a:bodyPr wrap="square"/>
                    <a:lstStyle/>
                    <a:p>
                      <a:r>
                        <a:rPr sz="1500">
                          <a:solidFill>
                            <a:srgbClr val="404040"/>
                          </a:solidFill>
                          <a:latin typeface="Calibri"/>
                        </a:rPr>
                        <a:t>docker kill did not trigger a restart</a:t>
                      </a:r>
                    </a:p>
                  </a:txBody>
                  <a:tcPr marL="54864" marR="54864" marT="27432" marB="27432" anchor="ctr">
                    <a:solidFill>
                      <a:srgbClr val="FFFFFF"/>
                    </a:solidFill>
                  </a:tcPr>
                </a:tc>
                <a:tc>
                  <a:txBody>
                    <a:bodyPr wrap="square"/>
                    <a:lstStyle/>
                    <a:p>
                      <a:r>
                        <a:rPr sz="1500">
                          <a:solidFill>
                            <a:srgbClr val="404040"/>
                          </a:solidFill>
                          <a:latin typeface="Calibri"/>
                        </a:rPr>
                        <a:t>Crash test kills the server process inside the container</a:t>
                      </a:r>
                    </a:p>
                  </a:txBody>
                  <a:tcPr marL="54864" marR="54864" marT="27432" marB="27432" anchor="ctr">
                    <a:solidFill>
                      <a:srgbClr val="FFFFFF"/>
                    </a:solidFill>
                  </a:tcPr>
                </a:tc>
              </a:tr>
              <a:tr h="731520">
                <a:tc>
                  <a:txBody>
                    <a:bodyPr wrap="square"/>
                    <a:lstStyle/>
                    <a:p>
                      <a:r>
                        <a:rPr sz="1500">
                          <a:solidFill>
                            <a:srgbClr val="404040"/>
                          </a:solidFill>
                          <a:latin typeface="Calibri"/>
                        </a:rPr>
                        <a:t>New MLflow server was empty</a:t>
                      </a:r>
                    </a:p>
                  </a:txBody>
                  <a:tcPr marL="54864" marR="54864" marT="27432" marB="27432" anchor="ctr">
                    <a:solidFill>
                      <a:srgbClr val="E8EEF7"/>
                    </a:solidFill>
                  </a:tcPr>
                </a:tc>
                <a:tc>
                  <a:txBody>
                    <a:bodyPr wrap="square"/>
                    <a:lstStyle/>
                    <a:p>
                      <a:r>
                        <a:rPr sz="1500">
                          <a:solidFill>
                            <a:srgbClr val="404040"/>
                          </a:solidFill>
                          <a:latin typeface="Calibri"/>
                        </a:rPr>
                        <a:t>Copied the original run history once, checksum-verified</a:t>
                      </a:r>
                    </a:p>
                  </a:txBody>
                  <a:tcPr marL="54864" marR="54864" marT="27432" marB="27432" anchor="ctr">
                    <a:solidFill>
                      <a:srgbClr val="E8EEF7"/>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Limitations and future work</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16</a:t>
            </a:r>
          </a:p>
        </p:txBody>
      </p:sp>
      <p:sp>
        <p:nvSpPr>
          <p:cNvPr id="7" name="TextBox 6"/>
          <p:cNvSpPr txBox="1"/>
          <p:nvPr/>
        </p:nvSpPr>
        <p:spPr>
          <a:xfrm>
            <a:off x="548640" y="1188720"/>
            <a:ext cx="5394960" cy="457200"/>
          </a:xfrm>
          <a:prstGeom prst="rect">
            <a:avLst/>
          </a:prstGeom>
          <a:noFill/>
        </p:spPr>
        <p:txBody>
          <a:bodyPr wrap="square" anchor="t" lIns="73152" rIns="73152" tIns="36576" bIns="36576">
            <a:spAutoFit/>
          </a:bodyPr>
          <a:lstStyle/>
          <a:p>
            <a:pPr algn="l">
              <a:spcAft>
                <a:spcPts val="600"/>
              </a:spcAft>
            </a:pPr>
            <a:r>
              <a:rPr sz="2200" b="1">
                <a:solidFill>
                  <a:srgbClr val="9C1C1C"/>
                </a:solidFill>
                <a:latin typeface="Calibri"/>
              </a:rPr>
              <a:t>Limitations</a:t>
            </a:r>
          </a:p>
        </p:txBody>
      </p:sp>
      <p:sp>
        <p:nvSpPr>
          <p:cNvPr id="8" name="TextBox 7"/>
          <p:cNvSpPr txBox="1"/>
          <p:nvPr/>
        </p:nvSpPr>
        <p:spPr>
          <a:xfrm>
            <a:off x="548640" y="1691640"/>
            <a:ext cx="5394960" cy="4572000"/>
          </a:xfrm>
          <a:prstGeom prst="rect">
            <a:avLst/>
          </a:prstGeom>
          <a:noFill/>
        </p:spPr>
        <p:txBody>
          <a:bodyPr wrap="square" anchor="t" lIns="73152" rIns="73152" tIns="36576" bIns="36576">
            <a:spAutoFit/>
          </a:bodyPr>
          <a:lstStyle/>
          <a:p>
            <a:pPr algn="l" marL="274320" indent="-274320">
              <a:spcAft>
                <a:spcPts val="900"/>
              </a:spcAft>
              <a:buChar char="•"/>
            </a:pPr>
            <a:r>
              <a:rPr sz="1600" b="0">
                <a:solidFill>
                  <a:srgbClr val="404040"/>
                </a:solidFill>
                <a:latin typeface="Calibri"/>
              </a:rPr>
              <a:t>One shared candidate token and one admin token; no user accounts.</a:t>
            </a:r>
          </a:p>
          <a:p>
            <a:pPr algn="l" marL="274320" indent="-274320">
              <a:spcAft>
                <a:spcPts val="900"/>
              </a:spcAft>
              <a:buChar char="•"/>
            </a:pPr>
            <a:r>
              <a:rPr sz="1600" b="0">
                <a:solidFill>
                  <a:srgbClr val="404040"/>
                </a:solidFill>
                <a:latin typeface="Calibri"/>
              </a:rPr>
              <a:t>Alert rules fire but nothing receives them.</a:t>
            </a:r>
          </a:p>
          <a:p>
            <a:pPr algn="l" marL="274320" indent="-274320">
              <a:spcAft>
                <a:spcPts val="900"/>
              </a:spcAft>
              <a:buChar char="•"/>
            </a:pPr>
            <a:r>
              <a:rPr sz="1600" b="0">
                <a:solidFill>
                  <a:srgbClr val="404040"/>
                </a:solidFill>
                <a:latin typeface="Calibri"/>
              </a:rPr>
              <a:t>No drift detection and no host metrics.</a:t>
            </a:r>
          </a:p>
          <a:p>
            <a:pPr algn="l" marL="274320" indent="-274320">
              <a:spcAft>
                <a:spcPts val="900"/>
              </a:spcAft>
              <a:buChar char="•"/>
            </a:pPr>
            <a:r>
              <a:rPr sz="1600" b="0">
                <a:solidFill>
                  <a:srgbClr val="404040"/>
                </a:solidFill>
                <a:latin typeface="Calibri"/>
              </a:rPr>
              <a:t>Single host; database migrations are not rolled back automatically.</a:t>
            </a:r>
          </a:p>
          <a:p>
            <a:pPr algn="l" marL="274320" indent="-274320">
              <a:spcAft>
                <a:spcPts val="900"/>
              </a:spcAft>
              <a:buChar char="•"/>
            </a:pPr>
            <a:r>
              <a:rPr sz="1600" b="0">
                <a:solidFill>
                  <a:srgbClr val="404040"/>
                </a:solidFill>
                <a:latin typeface="Calibri"/>
              </a:rPr>
              <a:t>Six-query benchmark with illustrative labels.</a:t>
            </a:r>
          </a:p>
          <a:p>
            <a:pPr algn="l" marL="274320" indent="-274320">
              <a:spcAft>
                <a:spcPts val="900"/>
              </a:spcAft>
              <a:buChar char="•"/>
            </a:pPr>
            <a:r>
              <a:rPr sz="1600" b="0">
                <a:solidFill>
                  <a:srgbClr val="404040"/>
                </a:solidFill>
                <a:latin typeface="Calibri"/>
              </a:rPr>
              <a:t>Reboot recovery expected from restart policies but not tested.</a:t>
            </a:r>
          </a:p>
        </p:txBody>
      </p:sp>
      <p:sp>
        <p:nvSpPr>
          <p:cNvPr id="9" name="TextBox 8"/>
          <p:cNvSpPr txBox="1"/>
          <p:nvPr/>
        </p:nvSpPr>
        <p:spPr>
          <a:xfrm>
            <a:off x="6309360" y="1188720"/>
            <a:ext cx="5394960" cy="457200"/>
          </a:xfrm>
          <a:prstGeom prst="rect">
            <a:avLst/>
          </a:prstGeom>
          <a:noFill/>
        </p:spPr>
        <p:txBody>
          <a:bodyPr wrap="square" anchor="t" lIns="73152" rIns="73152" tIns="36576" bIns="36576">
            <a:spAutoFit/>
          </a:bodyPr>
          <a:lstStyle/>
          <a:p>
            <a:pPr algn="l">
              <a:spcAft>
                <a:spcPts val="600"/>
              </a:spcAft>
            </a:pPr>
            <a:r>
              <a:rPr sz="2200" b="1">
                <a:solidFill>
                  <a:srgbClr val="1F3864"/>
                </a:solidFill>
                <a:latin typeface="Calibri"/>
              </a:rPr>
              <a:t>Future work</a:t>
            </a:r>
          </a:p>
        </p:txBody>
      </p:sp>
      <p:sp>
        <p:nvSpPr>
          <p:cNvPr id="10" name="TextBox 9"/>
          <p:cNvSpPr txBox="1"/>
          <p:nvPr/>
        </p:nvSpPr>
        <p:spPr>
          <a:xfrm>
            <a:off x="6309360" y="1691640"/>
            <a:ext cx="5394960" cy="4572000"/>
          </a:xfrm>
          <a:prstGeom prst="rect">
            <a:avLst/>
          </a:prstGeom>
          <a:noFill/>
        </p:spPr>
        <p:txBody>
          <a:bodyPr wrap="square" anchor="t" lIns="73152" rIns="73152" tIns="36576" bIns="36576">
            <a:spAutoFit/>
          </a:bodyPr>
          <a:lstStyle/>
          <a:p>
            <a:pPr algn="l" marL="274320" indent="-274320">
              <a:spcAft>
                <a:spcPts val="900"/>
              </a:spcAft>
              <a:buChar char="•"/>
            </a:pPr>
            <a:r>
              <a:rPr sz="1600" b="0">
                <a:solidFill>
                  <a:srgbClr val="404040"/>
                </a:solidFill>
                <a:latin typeface="Calibri"/>
              </a:rPr>
              <a:t>Human-labelled benchmark of 30+ real queries.</a:t>
            </a:r>
          </a:p>
          <a:p>
            <a:pPr algn="l" marL="274320" indent="-274320">
              <a:spcAft>
                <a:spcPts val="900"/>
              </a:spcAft>
              <a:buChar char="•"/>
            </a:pPr>
            <a:r>
              <a:rPr sz="1600" b="0">
                <a:solidFill>
                  <a:srgbClr val="404040"/>
                </a:solidFill>
                <a:latin typeface="Calibri"/>
              </a:rPr>
              <a:t>Per-user accounts and roles.</a:t>
            </a:r>
          </a:p>
          <a:p>
            <a:pPr algn="l" marL="274320" indent="-274320">
              <a:spcAft>
                <a:spcPts val="900"/>
              </a:spcAft>
              <a:buChar char="•"/>
            </a:pPr>
            <a:r>
              <a:rPr sz="1600" b="0">
                <a:solidFill>
                  <a:srgbClr val="404040"/>
                </a:solidFill>
                <a:latin typeface="Calibri"/>
              </a:rPr>
              <a:t>Alert delivery to email or chat.</a:t>
            </a:r>
          </a:p>
          <a:p>
            <a:pPr algn="l" marL="274320" indent="-274320">
              <a:spcAft>
                <a:spcPts val="900"/>
              </a:spcAft>
              <a:buChar char="•"/>
            </a:pPr>
            <a:r>
              <a:rPr sz="1600" b="0">
                <a:solidFill>
                  <a:srgbClr val="404040"/>
                </a:solidFill>
                <a:latin typeface="Calibri"/>
              </a:rPr>
              <a:t>Drift monitoring for resume and job features.</a:t>
            </a:r>
          </a:p>
          <a:p>
            <a:pPr algn="l" marL="274320" indent="-274320">
              <a:spcAft>
                <a:spcPts val="900"/>
              </a:spcAft>
              <a:buChar char="•"/>
            </a:pPr>
            <a:r>
              <a:rPr sz="1600" b="0">
                <a:solidFill>
                  <a:srgbClr val="404040"/>
                </a:solidFill>
                <a:latin typeface="Calibri"/>
              </a:rPr>
              <a:t>Infrastructure as code for the AWS resources.</a:t>
            </a:r>
          </a:p>
          <a:p>
            <a:pPr algn="l" marL="274320" indent="-274320">
              <a:spcAft>
                <a:spcPts val="900"/>
              </a:spcAft>
              <a:buChar char="•"/>
            </a:pPr>
            <a:r>
              <a:rPr sz="1600" b="0">
                <a:solidFill>
                  <a:srgbClr val="404040"/>
                </a:solidFill>
                <a:latin typeface="Calibri"/>
              </a:rPr>
              <a:t>Off-host backups and zero-downtime releases.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Conclusion</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17</a:t>
            </a:r>
          </a:p>
        </p:txBody>
      </p:sp>
      <p:sp>
        <p:nvSpPr>
          <p:cNvPr id="7" name="TextBox 6"/>
          <p:cNvSpPr txBox="1"/>
          <p:nvPr/>
        </p:nvSpPr>
        <p:spPr>
          <a:xfrm>
            <a:off x="640080" y="1371600"/>
            <a:ext cx="10972800" cy="4572000"/>
          </a:xfrm>
          <a:prstGeom prst="rect">
            <a:avLst/>
          </a:prstGeom>
          <a:noFill/>
        </p:spPr>
        <p:txBody>
          <a:bodyPr wrap="square" anchor="t" lIns="73152" rIns="73152" tIns="36576" bIns="36576">
            <a:spAutoFit/>
          </a:bodyPr>
          <a:lstStyle/>
          <a:p>
            <a:pPr algn="l" marL="274320" indent="-274320">
              <a:spcAft>
                <a:spcPts val="1400"/>
              </a:spcAft>
              <a:buChar char="•"/>
            </a:pPr>
            <a:r>
              <a:rPr sz="2000" b="0">
                <a:solidFill>
                  <a:srgbClr val="404040"/>
                </a:solidFill>
                <a:latin typeface="Calibri"/>
              </a:rPr>
              <a:t>CareerFlowOps delivers an explainable job ranker through a complete MLOps pipeline: DVC, MLflow, a verified model bundle, Docker, GitHub Actions, ECR and EC2.</a:t>
            </a:r>
          </a:p>
          <a:p>
            <a:pPr algn="l" marL="274320" indent="-274320">
              <a:spcAft>
                <a:spcPts val="1400"/>
              </a:spcAft>
              <a:buChar char="•"/>
            </a:pPr>
            <a:r>
              <a:rPr sz="2000" b="0">
                <a:solidFill>
                  <a:srgbClr val="404040"/>
                </a:solidFill>
                <a:latin typeface="Calibri"/>
              </a:rPr>
              <a:t>Every release is traceable: Git commit, dataset hash, MLflow run, bundle ID and image digest.</a:t>
            </a:r>
          </a:p>
          <a:p>
            <a:pPr algn="l" marL="274320" indent="-274320">
              <a:spcAft>
                <a:spcPts val="1400"/>
              </a:spcAft>
              <a:buChar char="•"/>
            </a:pPr>
            <a:r>
              <a:rPr sz="2000" b="0">
                <a:solidFill>
                  <a:srgbClr val="404040"/>
                </a:solidFill>
                <a:latin typeface="Calibri"/>
              </a:rPr>
              <a:t>The pipeline is keyless and verified: OIDC instead of stored keys, a bundle checked before serving, a deploy that compares the live model with the manifest.</a:t>
            </a:r>
          </a:p>
          <a:p>
            <a:pPr algn="l" marL="274320" indent="-274320">
              <a:spcAft>
                <a:spcPts val="1400"/>
              </a:spcAft>
              <a:buChar char="•"/>
            </a:pPr>
            <a:r>
              <a:rPr sz="2000" b="0">
                <a:solidFill>
                  <a:srgbClr val="404040"/>
                </a:solidFill>
                <a:latin typeface="Calibri"/>
              </a:rPr>
              <a:t>The deployed system was verified end to end, and its limits are stated, notably the small benchmark and the shared token.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9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13232"/>
          </a:xfrm>
          <a:prstGeom prst="rect">
            <a:avLst/>
          </a:prstGeom>
          <a:noFill/>
        </p:spPr>
        <p:txBody>
          <a:bodyPr wrap="square" anchor="ctr" lIns="73152" rIns="73152" tIns="36576" bIns="36576">
            <a:spAutoFit/>
          </a:bodyPr>
          <a:lstStyle/>
          <a:p>
            <a:pPr algn="l">
              <a:spcAft>
                <a:spcPts val="600"/>
              </a:spcAft>
            </a:pPr>
            <a:r>
              <a:rPr sz="3000" b="1">
                <a:solidFill>
                  <a:srgbClr val="FFFFFF"/>
                </a:solidFill>
                <a:latin typeface="Calibri"/>
              </a:rPr>
              <a:t>References</a:t>
            </a:r>
          </a:p>
        </p:txBody>
      </p:sp>
      <p:sp>
        <p:nvSpPr>
          <p:cNvPr id="5" name="TextBox 4"/>
          <p:cNvSpPr txBox="1"/>
          <p:nvPr/>
        </p:nvSpPr>
        <p:spPr>
          <a:xfrm>
            <a:off x="457200" y="6473952"/>
            <a:ext cx="8686800" cy="274320"/>
          </a:xfrm>
          <a:prstGeom prst="rect">
            <a:avLst/>
          </a:prstGeom>
          <a:noFill/>
        </p:spPr>
        <p:txBody>
          <a:bodyPr wrap="square" anchor="t" lIns="73152" rIns="73152" tIns="36576" bIns="36576">
            <a:spAutoFit/>
          </a:bodyPr>
          <a:lstStyle/>
          <a:p>
            <a:pPr algn="l">
              <a:spcAft>
                <a:spcPts val="600"/>
              </a:spcAft>
            </a:pPr>
            <a:r>
              <a:rPr sz="1000" b="0">
                <a:solidFill>
                  <a:srgbClr val="595959"/>
                </a:solidFill>
                <a:latin typeface="Calibri"/>
              </a:rPr>
              <a:t>CareerFlowOps  |  MLOps on AWS  |  Symbiosis Institute of Technology</a:t>
            </a:r>
          </a:p>
        </p:txBody>
      </p:sp>
      <p:sp>
        <p:nvSpPr>
          <p:cNvPr id="6" name="TextBox 5"/>
          <p:cNvSpPr txBox="1"/>
          <p:nvPr/>
        </p:nvSpPr>
        <p:spPr>
          <a:xfrm>
            <a:off x="10972800" y="6473952"/>
            <a:ext cx="822960" cy="274320"/>
          </a:xfrm>
          <a:prstGeom prst="rect">
            <a:avLst/>
          </a:prstGeom>
          <a:noFill/>
        </p:spPr>
        <p:txBody>
          <a:bodyPr wrap="square" anchor="t" lIns="73152" rIns="73152" tIns="36576" bIns="36576">
            <a:spAutoFit/>
          </a:bodyPr>
          <a:lstStyle/>
          <a:p>
            <a:pPr algn="r">
              <a:spcAft>
                <a:spcPts val="600"/>
              </a:spcAft>
            </a:pPr>
            <a:r>
              <a:rPr sz="1000" b="0">
                <a:solidFill>
                  <a:srgbClr val="595959"/>
                </a:solidFill>
                <a:latin typeface="Calibri"/>
              </a:rPr>
              <a:t>18</a:t>
            </a:r>
          </a:p>
        </p:txBody>
      </p:sp>
      <p:sp>
        <p:nvSpPr>
          <p:cNvPr id="7" name="TextBox 6"/>
          <p:cNvSpPr txBox="1"/>
          <p:nvPr/>
        </p:nvSpPr>
        <p:spPr>
          <a:xfrm>
            <a:off x="548640" y="1188720"/>
            <a:ext cx="11155680" cy="5120640"/>
          </a:xfrm>
          <a:prstGeom prst="rect">
            <a:avLst/>
          </a:prstGeom>
          <a:noFill/>
        </p:spPr>
        <p:txBody>
          <a:bodyPr wrap="square" anchor="t" lIns="73152" rIns="73152" tIns="36576" bIns="36576">
            <a:spAutoFit/>
          </a:bodyPr>
          <a:lstStyle/>
          <a:p>
            <a:pPr algn="l">
              <a:spcAft>
                <a:spcPts val="800"/>
              </a:spcAft>
            </a:pPr>
            <a:r>
              <a:rPr sz="1400" b="0">
                <a:solidFill>
                  <a:srgbClr val="404040"/>
                </a:solidFill>
                <a:latin typeface="Calibri"/>
              </a:rPr>
              <a:t>[1] D. Sculley et al., "Hidden technical debt in machine learning systems," in Adv. Neural Inf. Process. Syst. 28, 2015, pp. 2503-2511.</a:t>
            </a:r>
          </a:p>
          <a:p>
            <a:pPr algn="l">
              <a:spcAft>
                <a:spcPts val="800"/>
              </a:spcAft>
            </a:pPr>
            <a:r>
              <a:rPr sz="1400" b="0">
                <a:solidFill>
                  <a:srgbClr val="404040"/>
                </a:solidFill>
                <a:latin typeface="Calibri"/>
              </a:rPr>
              <a:t>[2] M. Zaharia et al., "Accelerating the machine learning lifecycle with MLflow," IEEE Data Eng. Bull., vol. 41, no. 4, pp. 39-45, 2018.</a:t>
            </a:r>
          </a:p>
          <a:p>
            <a:pPr algn="l">
              <a:spcAft>
                <a:spcPts val="800"/>
              </a:spcAft>
            </a:pPr>
            <a:r>
              <a:rPr sz="1400" b="0">
                <a:solidFill>
                  <a:srgbClr val="404040"/>
                </a:solidFill>
                <a:latin typeface="Calibri"/>
              </a:rPr>
              <a:t>[3] D. Kreuzberger, N. Kuhl and S. Hirschl, "Machine learning operations (MLOps): Overview, definition, and architecture," IEEE Access, vol. 11, pp. 31866-31879, 2023.</a:t>
            </a:r>
          </a:p>
          <a:p>
            <a:pPr algn="l">
              <a:spcAft>
                <a:spcPts val="800"/>
              </a:spcAft>
            </a:pPr>
            <a:r>
              <a:rPr sz="1400" b="0">
                <a:solidFill>
                  <a:srgbClr val="404040"/>
                </a:solidFill>
                <a:latin typeface="Calibri"/>
              </a:rPr>
              <a:t>[4] N. Reimers and I. Gurevych, "Sentence-BERT: Sentence embeddings using Siamese BERT-networks," in Proc. EMNLP-IJCNLP, 2019, pp. 3982-3992.</a:t>
            </a:r>
          </a:p>
          <a:p>
            <a:pPr algn="l">
              <a:spcAft>
                <a:spcPts val="800"/>
              </a:spcAft>
            </a:pPr>
            <a:r>
              <a:rPr sz="1400" b="0">
                <a:solidFill>
                  <a:srgbClr val="404040"/>
                </a:solidFill>
                <a:latin typeface="Calibri"/>
              </a:rPr>
              <a:t>[5] G. Salton and C. Buckley, "Term-weighting approaches in automatic text retrieval," Inf. Process. Manag., vol. 24, no. 5, pp. 513-523, 1988.</a:t>
            </a:r>
          </a:p>
          <a:p>
            <a:pPr algn="l">
              <a:spcAft>
                <a:spcPts val="800"/>
              </a:spcAft>
            </a:pPr>
            <a:r>
              <a:rPr sz="1400" b="0">
                <a:solidFill>
                  <a:srgbClr val="404040"/>
                </a:solidFill>
                <a:latin typeface="Calibri"/>
              </a:rPr>
              <a:t>[6] K. Jarvelin and J. Kekalainen, "Cumulated gain-based evaluation of IR techniques," ACM Trans. Inf. Syst., vol. 20, no. 4, pp. 422-446, 2002.</a:t>
            </a:r>
          </a:p>
          <a:p>
            <a:pPr algn="l">
              <a:spcAft>
                <a:spcPts val="800"/>
              </a:spcAft>
            </a:pPr>
            <a:r>
              <a:rPr sz="1400" b="0">
                <a:solidFill>
                  <a:srgbClr val="404040"/>
                </a:solidFill>
                <a:latin typeface="Calibri"/>
              </a:rPr>
              <a:t>[7] J. Humble and D. Farley, Continuous Delivery. Boston, MA, USA: Addison-Wesley, 2010.</a:t>
            </a:r>
          </a:p>
          <a:p>
            <a:pPr algn="l">
              <a:spcAft>
                <a:spcPts val="800"/>
              </a:spcAft>
            </a:pPr>
            <a:r>
              <a:rPr sz="1400" b="0">
                <a:solidFill>
                  <a:srgbClr val="404040"/>
                </a:solidFill>
                <a:latin typeface="Calibri"/>
              </a:rPr>
              <a:t>[8] DVC documentation, Iterative, Inc. [Online]. Available: https://dvc.org/doc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1097280"/>
          </a:xfrm>
          <a:prstGeom prst="rect">
            <a:avLst/>
          </a:prstGeom>
          <a:noFill/>
        </p:spPr>
        <p:txBody>
          <a:bodyPr wrap="square" anchor="t" lIns="73152" rIns="73152" tIns="36576" bIns="36576">
            <a:spAutoFit/>
          </a:bodyPr>
          <a:lstStyle/>
          <a:p>
            <a:pPr algn="ctr">
              <a:spcAft>
                <a:spcPts val="600"/>
              </a:spcAft>
            </a:pPr>
            <a:r>
              <a:rPr sz="5400" b="1">
                <a:solidFill>
                  <a:srgbClr val="FFFFFF"/>
                </a:solidFill>
                <a:latin typeface="Calibri"/>
              </a:rPr>
              <a:t>Thank you</a:t>
            </a:r>
          </a:p>
        </p:txBody>
      </p:sp>
      <p:sp>
        <p:nvSpPr>
          <p:cNvPr id="4" name="TextBox 3"/>
          <p:cNvSpPr txBox="1"/>
          <p:nvPr/>
        </p:nvSpPr>
        <p:spPr>
          <a:xfrm>
            <a:off x="731520" y="3108960"/>
            <a:ext cx="10698480" cy="731520"/>
          </a:xfrm>
          <a:prstGeom prst="rect">
            <a:avLst/>
          </a:prstGeom>
          <a:noFill/>
        </p:spPr>
        <p:txBody>
          <a:bodyPr wrap="square" anchor="t" lIns="73152" rIns="73152" tIns="36576" bIns="36576">
            <a:spAutoFit/>
          </a:bodyPr>
          <a:lstStyle/>
          <a:p>
            <a:pPr algn="ctr">
              <a:spcAft>
                <a:spcPts val="600"/>
              </a:spcAft>
            </a:pPr>
            <a:r>
              <a:rPr sz="3000" b="0">
                <a:solidFill>
                  <a:srgbClr val="DCE6F2"/>
                </a:solidFill>
                <a:latin typeface="Calibri"/>
              </a:rPr>
              <a:t>Questions?</a:t>
            </a:r>
          </a:p>
        </p:txBody>
      </p:sp>
      <p:sp>
        <p:nvSpPr>
          <p:cNvPr id="5" name="TextBox 4"/>
          <p:cNvSpPr txBox="1"/>
          <p:nvPr/>
        </p:nvSpPr>
        <p:spPr>
          <a:xfrm>
            <a:off x="731520" y="4297680"/>
            <a:ext cx="10698480" cy="1097280"/>
          </a:xfrm>
          <a:prstGeom prst="rect">
            <a:avLst/>
          </a:prstGeom>
          <a:noFill/>
        </p:spPr>
        <p:txBody>
          <a:bodyPr wrap="square" anchor="t" lIns="73152" rIns="73152" tIns="36576" bIns="36576">
            <a:spAutoFit/>
          </a:bodyPr>
          <a:lstStyle/>
          <a:p>
            <a:pPr algn="ctr">
              <a:spcAft>
                <a:spcPts val="400"/>
              </a:spcAft>
            </a:pPr>
            <a:r>
              <a:rPr sz="1800" b="0">
                <a:solidFill>
                  <a:srgbClr val="DCE6F2"/>
                </a:solidFill>
                <a:latin typeface="Calibri"/>
              </a:rPr>
              <a:t>Utkarsh Lakhani (23070126064)</a:t>
            </a:r>
          </a:p>
          <a:p>
            <a:pPr algn="ctr">
              <a:spcAft>
                <a:spcPts val="400"/>
              </a:spcAft>
            </a:pPr>
            <a:r>
              <a:rPr sz="1800" b="0">
                <a:solidFill>
                  <a:srgbClr val="DCE6F2"/>
                </a:solidFill>
                <a:latin typeface="Calibri"/>
              </a:rPr>
              <a:t>Live system: https://15-252-197-53.sslip.io</a:t>
            </a:r>
          </a:p>
          <a:p>
            <a:pPr algn="ctr">
              <a:spcAft>
                <a:spcPts val="400"/>
              </a:spcAft>
            </a:pPr>
            <a:r>
              <a:rPr sz="1800" b="0">
                <a:solidFill>
                  <a:srgbClr val="DCE6F2"/>
                </a:solidFill>
                <a:latin typeface="Calibri"/>
              </a:rPr>
              <a:t>Code: github.com/Arjun-Reddy-I/CareerFlowOps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